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ureensyed2005@outlook.com" userId="871706ee145937a2" providerId="LiveId" clId="{299E79F9-7D47-4DD1-8D61-61C30D4DD81E}"/>
    <pc:docChg chg="modSld">
      <pc:chgData name="noureensyed2005@outlook.com" userId="871706ee145937a2" providerId="LiveId" clId="{299E79F9-7D47-4DD1-8D61-61C30D4DD81E}" dt="2026-03-20T15:45:44.346" v="1" actId="20577"/>
      <pc:docMkLst>
        <pc:docMk/>
      </pc:docMkLst>
      <pc:sldChg chg="modSp mod">
        <pc:chgData name="noureensyed2005@outlook.com" userId="871706ee145937a2" providerId="LiveId" clId="{299E79F9-7D47-4DD1-8D61-61C30D4DD81E}" dt="2026-03-20T15:45:44.346" v="1" actId="20577"/>
        <pc:sldMkLst>
          <pc:docMk/>
          <pc:sldMk cId="0" sldId="256"/>
        </pc:sldMkLst>
        <pc:spChg chg="mod">
          <ac:chgData name="noureensyed2005@outlook.com" userId="871706ee145937a2" providerId="LiveId" clId="{299E79F9-7D47-4DD1-8D61-61C30D4DD81E}" dt="2026-03-20T15:45:44.346" v="1" actId="20577"/>
          <ac:spMkLst>
            <pc:docMk/>
            <pc:sldMk cId="0" sldId="256"/>
            <ac:spMk id="7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IN" sz="1800" b="0" strike="noStrike" spc="-1">
                <a:solidFill>
                  <a:srgbClr val="000000"/>
                </a:solidFill>
                <a:latin typeface="Calibri"/>
              </a:rPr>
              <a:t>Click to move the slide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IN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IN" sz="1400" b="0" strike="noStrike" spc="-1">
                <a:latin typeface="Times New Roman"/>
              </a:defRPr>
            </a:lvl1pPr>
          </a:lstStyle>
          <a:p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566212BF-3918-41E1-B963-6556D8ACB0AF}" type="slidenum">
              <a:rPr lang="en-IN" sz="1400" b="0" strike="noStrike" spc="-1">
                <a:latin typeface="Times New Roman"/>
              </a:rPr>
              <a:t>‹#›</a:t>
            </a:fld>
            <a:endParaRPr lang="en-IN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000EA63-4463-4C84-BC3D-90DBC6EF511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707EFC8-3A9E-403A-A79F-63A1D64974EA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BF1286D-7AF6-4D03-8294-9DD9BD039904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7082C68-FB59-4EC4-A1E8-AAA298148B88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45FD7C3-CA4B-4323-A15C-7CA3789D0B37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2F66777-A6B5-45FD-B71F-FCC5C14C9CE7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3D6B3A4-B46D-4BFE-BEE0-925D14836E7C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7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3569BB0-438C-47C2-8015-9AA068F61528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3BFBE74-F42B-4B7F-8F15-089049AA59EE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9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3C04ACD-1072-43A7-BB7C-75C2B0960750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10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224077B-984A-4904-8E86-FB2348E4964F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11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0DC16C9-77D7-4C67-A163-57B0746ED53A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6CD28D0-DC2F-4AAD-9EF7-1BA85DC06D66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13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3BA8999-A1F4-441F-96C8-10E39DB65770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14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5D19C56-AF69-487F-A71B-3640B368C374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15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IN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Shape 1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Shape 2"/>
          <p:cNvSpPr/>
          <p:nvPr/>
        </p:nvSpPr>
        <p:spPr>
          <a:xfrm>
            <a:off x="0" y="50400"/>
            <a:ext cx="3748680" cy="504252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" name="Shape 3"/>
          <p:cNvSpPr/>
          <p:nvPr/>
        </p:nvSpPr>
        <p:spPr>
          <a:xfrm>
            <a:off x="3749040" y="50400"/>
            <a:ext cx="50040" cy="504252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" name="Text 6"/>
          <p:cNvSpPr/>
          <p:nvPr/>
        </p:nvSpPr>
        <p:spPr>
          <a:xfrm>
            <a:off x="320040" y="22860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50" b="1" strike="noStrike" spc="398">
                <a:solidFill>
                  <a:srgbClr val="C89B3C"/>
                </a:solidFill>
                <a:latin typeface="Calibri"/>
              </a:rPr>
              <a:t>LOST &amp; FOUND PORTAL</a:t>
            </a:r>
            <a:endParaRPr lang="en-IN" sz="750" b="0" strike="noStrike" spc="-1"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320040" y="548640"/>
            <a:ext cx="320004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Cambria"/>
                <a:ea typeface="Cambria"/>
              </a:rPr>
              <a:t>Campus</a:t>
            </a:r>
            <a:endParaRPr lang="en-IN" sz="4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Cambria"/>
                <a:ea typeface="Cambria"/>
              </a:rPr>
              <a:t>Track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50" name="Text 8"/>
          <p:cNvSpPr/>
          <p:nvPr/>
        </p:nvSpPr>
        <p:spPr>
          <a:xfrm>
            <a:off x="320040" y="171900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E8B84B"/>
                </a:solidFill>
                <a:latin typeface="Cambria"/>
                <a:ea typeface="Cambria"/>
              </a:rPr>
              <a:t>Intelligent Lost &amp; Found Locator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51" name="Shape 9"/>
          <p:cNvSpPr/>
          <p:nvPr/>
        </p:nvSpPr>
        <p:spPr>
          <a:xfrm>
            <a:off x="320040" y="2148840"/>
            <a:ext cx="1645560" cy="363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" name="Shape 10"/>
          <p:cNvSpPr/>
          <p:nvPr/>
        </p:nvSpPr>
        <p:spPr>
          <a:xfrm>
            <a:off x="320040" y="2331720"/>
            <a:ext cx="3062880" cy="338040"/>
          </a:xfrm>
          <a:prstGeom prst="rect">
            <a:avLst/>
          </a:prstGeom>
          <a:solidFill>
            <a:srgbClr val="1A2240"/>
          </a:solidFill>
          <a:ln w="508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" name="Text 11"/>
          <p:cNvSpPr/>
          <p:nvPr/>
        </p:nvSpPr>
        <p:spPr>
          <a:xfrm>
            <a:off x="320040" y="2331720"/>
            <a:ext cx="30628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D8D4CC"/>
                </a:solidFill>
                <a:latin typeface="Calibri"/>
              </a:rPr>
              <a:t>Java Spring Boot 3</a:t>
            </a:r>
            <a:endParaRPr lang="en-IN" sz="1000" b="0" strike="noStrike" spc="-1">
              <a:latin typeface="Arial"/>
            </a:endParaRPr>
          </a:p>
        </p:txBody>
      </p:sp>
      <p:sp>
        <p:nvSpPr>
          <p:cNvPr id="54" name="Shape 12"/>
          <p:cNvSpPr/>
          <p:nvPr/>
        </p:nvSpPr>
        <p:spPr>
          <a:xfrm>
            <a:off x="320040" y="2752200"/>
            <a:ext cx="3062880" cy="338040"/>
          </a:xfrm>
          <a:prstGeom prst="rect">
            <a:avLst/>
          </a:prstGeom>
          <a:solidFill>
            <a:srgbClr val="1A2240"/>
          </a:solidFill>
          <a:ln w="508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" name="Text 13"/>
          <p:cNvSpPr/>
          <p:nvPr/>
        </p:nvSpPr>
        <p:spPr>
          <a:xfrm>
            <a:off x="320040" y="2752200"/>
            <a:ext cx="30628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D8D4CC"/>
                </a:solidFill>
                <a:latin typeface="Calibri"/>
              </a:rPr>
              <a:t>MySQL 8</a:t>
            </a:r>
            <a:endParaRPr lang="en-IN" sz="1000" b="0" strike="noStrike" spc="-1">
              <a:latin typeface="Arial"/>
            </a:endParaRPr>
          </a:p>
        </p:txBody>
      </p:sp>
      <p:sp>
        <p:nvSpPr>
          <p:cNvPr id="56" name="Shape 14"/>
          <p:cNvSpPr/>
          <p:nvPr/>
        </p:nvSpPr>
        <p:spPr>
          <a:xfrm>
            <a:off x="320040" y="3173040"/>
            <a:ext cx="3062880" cy="338040"/>
          </a:xfrm>
          <a:prstGeom prst="rect">
            <a:avLst/>
          </a:prstGeom>
          <a:solidFill>
            <a:srgbClr val="1A2240"/>
          </a:solidFill>
          <a:ln w="508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" name="Text 15"/>
          <p:cNvSpPr/>
          <p:nvPr/>
        </p:nvSpPr>
        <p:spPr>
          <a:xfrm>
            <a:off x="320040" y="3173040"/>
            <a:ext cx="30628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D8D4CC"/>
                </a:solidFill>
                <a:latin typeface="Calibri"/>
              </a:rPr>
              <a:t>WebSocket / STOMP</a:t>
            </a:r>
            <a:endParaRPr lang="en-IN" sz="1000" b="0" strike="noStrike" spc="-1">
              <a:latin typeface="Arial"/>
            </a:endParaRPr>
          </a:p>
        </p:txBody>
      </p:sp>
      <p:sp>
        <p:nvSpPr>
          <p:cNvPr id="58" name="Shape 16"/>
          <p:cNvSpPr/>
          <p:nvPr/>
        </p:nvSpPr>
        <p:spPr>
          <a:xfrm>
            <a:off x="320040" y="3593520"/>
            <a:ext cx="3062880" cy="338040"/>
          </a:xfrm>
          <a:prstGeom prst="rect">
            <a:avLst/>
          </a:prstGeom>
          <a:solidFill>
            <a:srgbClr val="1A2240"/>
          </a:solidFill>
          <a:ln w="508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" name="Text 17"/>
          <p:cNvSpPr/>
          <p:nvPr/>
        </p:nvSpPr>
        <p:spPr>
          <a:xfrm>
            <a:off x="320040" y="3593520"/>
            <a:ext cx="30628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strike="noStrike" spc="-1">
                <a:solidFill>
                  <a:srgbClr val="D8D4CC"/>
                </a:solidFill>
                <a:latin typeface="Calibri"/>
              </a:rPr>
              <a:t>React.js Frontend</a:t>
            </a:r>
            <a:endParaRPr lang="en-IN" sz="1000" b="0" strike="noStrike" spc="-1">
              <a:latin typeface="Arial"/>
            </a:endParaRPr>
          </a:p>
        </p:txBody>
      </p:sp>
      <p:sp>
        <p:nvSpPr>
          <p:cNvPr id="60" name="Text 18"/>
          <p:cNvSpPr/>
          <p:nvPr/>
        </p:nvSpPr>
        <p:spPr>
          <a:xfrm>
            <a:off x="3977640" y="594360"/>
            <a:ext cx="493740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Cambria"/>
                <a:ea typeface="Cambria"/>
              </a:rPr>
              <a:t>Find What's Lost,</a:t>
            </a:r>
            <a:endParaRPr lang="en-IN" sz="3400" b="0" strike="noStrike" spc="-1">
              <a:latin typeface="Arial"/>
            </a:endParaRPr>
          </a:p>
        </p:txBody>
      </p:sp>
      <p:sp>
        <p:nvSpPr>
          <p:cNvPr id="61" name="Text 19"/>
          <p:cNvSpPr/>
          <p:nvPr/>
        </p:nvSpPr>
        <p:spPr>
          <a:xfrm>
            <a:off x="3977640" y="1188720"/>
            <a:ext cx="493740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i="1" strike="noStrike" spc="-1">
                <a:solidFill>
                  <a:srgbClr val="E8B84B"/>
                </a:solidFill>
                <a:latin typeface="Cambria"/>
                <a:ea typeface="Cambria"/>
              </a:rPr>
              <a:t>Return What's Found.</a:t>
            </a:r>
            <a:endParaRPr lang="en-IN" sz="3000" b="0" strike="noStrike" spc="-1">
              <a:latin typeface="Arial"/>
            </a:endParaRPr>
          </a:p>
        </p:txBody>
      </p:sp>
      <p:sp>
        <p:nvSpPr>
          <p:cNvPr id="62" name="Text 20"/>
          <p:cNvSpPr/>
          <p:nvPr/>
        </p:nvSpPr>
        <p:spPr>
          <a:xfrm>
            <a:off x="3977640" y="1938600"/>
            <a:ext cx="4891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50" b="0" strike="noStrike" spc="-1">
                <a:solidFill>
                  <a:srgbClr val="8A90A8"/>
                </a:solidFill>
                <a:latin typeface="Calibri"/>
              </a:rPr>
              <a:t>A smart campus portal connecting students with their missing</a:t>
            </a:r>
            <a:endParaRPr lang="en-IN" sz="115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50" b="0" strike="noStrike" spc="-1">
                <a:solidFill>
                  <a:srgbClr val="8A90A8"/>
                </a:solidFill>
                <a:latin typeface="Calibri"/>
              </a:rPr>
              <a:t>belongings. Report, search, match, chat — all in one place.</a:t>
            </a:r>
            <a:endParaRPr lang="en-IN" sz="1150" b="0" strike="noStrike" spc="-1">
              <a:latin typeface="Arial"/>
            </a:endParaRPr>
          </a:p>
        </p:txBody>
      </p:sp>
      <p:sp>
        <p:nvSpPr>
          <p:cNvPr id="63" name="Shape 21"/>
          <p:cNvSpPr/>
          <p:nvPr/>
        </p:nvSpPr>
        <p:spPr>
          <a:xfrm>
            <a:off x="3977640" y="2743200"/>
            <a:ext cx="1508400" cy="914040"/>
          </a:xfrm>
          <a:prstGeom prst="rect">
            <a:avLst/>
          </a:prstGeom>
          <a:solidFill>
            <a:srgbClr val="1A2240"/>
          </a:solidFill>
          <a:ln w="6350">
            <a:solidFill>
              <a:srgbClr val="C89B3C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" name="Text 22"/>
          <p:cNvSpPr/>
          <p:nvPr/>
        </p:nvSpPr>
        <p:spPr>
          <a:xfrm>
            <a:off x="3977640" y="279792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C89B3C"/>
                </a:solidFill>
                <a:latin typeface="Calibri"/>
              </a:rPr>
              <a:t>6</a:t>
            </a:r>
            <a:endParaRPr lang="en-IN" sz="2600" b="0" strike="noStrike" spc="-1">
              <a:latin typeface="Arial"/>
            </a:endParaRPr>
          </a:p>
        </p:txBody>
      </p:sp>
      <p:sp>
        <p:nvSpPr>
          <p:cNvPr id="65" name="Text 23"/>
          <p:cNvSpPr/>
          <p:nvPr/>
        </p:nvSpPr>
        <p:spPr>
          <a:xfrm>
            <a:off x="3977640" y="324612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199">
                <a:solidFill>
                  <a:srgbClr val="8A90A8"/>
                </a:solidFill>
                <a:latin typeface="Calibri"/>
              </a:rPr>
              <a:t>Modules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66" name="Shape 24"/>
          <p:cNvSpPr/>
          <p:nvPr/>
        </p:nvSpPr>
        <p:spPr>
          <a:xfrm>
            <a:off x="5641920" y="2743200"/>
            <a:ext cx="1508400" cy="914040"/>
          </a:xfrm>
          <a:prstGeom prst="rect">
            <a:avLst/>
          </a:prstGeom>
          <a:solidFill>
            <a:srgbClr val="1A2240"/>
          </a:solidFill>
          <a:ln w="6350">
            <a:solidFill>
              <a:srgbClr val="C89B3C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" name="Text 25"/>
          <p:cNvSpPr/>
          <p:nvPr/>
        </p:nvSpPr>
        <p:spPr>
          <a:xfrm>
            <a:off x="5641920" y="279792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C89B3C"/>
                </a:solidFill>
                <a:latin typeface="Calibri"/>
              </a:rPr>
              <a:t>8</a:t>
            </a:r>
            <a:endParaRPr lang="en-IN" sz="2600" b="0" strike="noStrike" spc="-1">
              <a:latin typeface="Arial"/>
            </a:endParaRPr>
          </a:p>
        </p:txBody>
      </p:sp>
      <p:sp>
        <p:nvSpPr>
          <p:cNvPr id="68" name="Text 26"/>
          <p:cNvSpPr/>
          <p:nvPr/>
        </p:nvSpPr>
        <p:spPr>
          <a:xfrm>
            <a:off x="5641920" y="324612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199">
                <a:solidFill>
                  <a:srgbClr val="8A90A8"/>
                </a:solidFill>
                <a:latin typeface="Calibri"/>
              </a:rPr>
              <a:t>Weeks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69" name="Shape 27"/>
          <p:cNvSpPr/>
          <p:nvPr/>
        </p:nvSpPr>
        <p:spPr>
          <a:xfrm>
            <a:off x="7306200" y="2743200"/>
            <a:ext cx="1508400" cy="914040"/>
          </a:xfrm>
          <a:prstGeom prst="rect">
            <a:avLst/>
          </a:prstGeom>
          <a:solidFill>
            <a:srgbClr val="1A2240"/>
          </a:solidFill>
          <a:ln w="6350">
            <a:solidFill>
              <a:srgbClr val="C89B3C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" name="Text 28"/>
          <p:cNvSpPr/>
          <p:nvPr/>
        </p:nvSpPr>
        <p:spPr>
          <a:xfrm>
            <a:off x="7306200" y="279792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C89B3C"/>
                </a:solidFill>
                <a:latin typeface="Calibri"/>
              </a:rPr>
              <a:t>100%</a:t>
            </a:r>
            <a:endParaRPr lang="en-IN" sz="2600" b="0" strike="noStrike" spc="-1">
              <a:latin typeface="Arial"/>
            </a:endParaRPr>
          </a:p>
        </p:txBody>
      </p:sp>
      <p:sp>
        <p:nvSpPr>
          <p:cNvPr id="71" name="Text 29"/>
          <p:cNvSpPr/>
          <p:nvPr/>
        </p:nvSpPr>
        <p:spPr>
          <a:xfrm>
            <a:off x="7306200" y="324612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199">
                <a:solidFill>
                  <a:srgbClr val="8A90A8"/>
                </a:solidFill>
                <a:latin typeface="Calibri"/>
              </a:rPr>
              <a:t>Complete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72" name="Text 30"/>
          <p:cNvSpPr/>
          <p:nvPr/>
        </p:nvSpPr>
        <p:spPr>
          <a:xfrm>
            <a:off x="3977640" y="4133160"/>
            <a:ext cx="4937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50" b="0" strike="noStrike" spc="-1">
                <a:solidFill>
                  <a:srgbClr val="E8B84B"/>
                </a:solidFill>
                <a:latin typeface="Calibri"/>
              </a:rPr>
              <a:t>Mentor: Suramya Biswas  |  Infosys Springboard — Java Batch 13</a:t>
            </a:r>
            <a:endParaRPr lang="en-IN" sz="850" b="0" strike="noStrike" spc="-1">
              <a:latin typeface="Arial"/>
            </a:endParaRPr>
          </a:p>
        </p:txBody>
      </p:sp>
      <p:sp>
        <p:nvSpPr>
          <p:cNvPr id="73" name="Text 31"/>
          <p:cNvSpPr/>
          <p:nvPr/>
        </p:nvSpPr>
        <p:spPr>
          <a:xfrm>
            <a:off x="3977640" y="4389120"/>
            <a:ext cx="4937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strike="noStrike" spc="-1" dirty="0">
                <a:solidFill>
                  <a:srgbClr val="8A90A8"/>
                </a:solidFill>
                <a:latin typeface="Calibri"/>
              </a:rPr>
              <a:t>Team: </a:t>
            </a:r>
            <a:r>
              <a:rPr lang="en-US" sz="800" b="0" strike="noStrike" spc="-1" dirty="0" err="1">
                <a:solidFill>
                  <a:srgbClr val="8A90A8"/>
                </a:solidFill>
                <a:latin typeface="Calibri"/>
              </a:rPr>
              <a:t>InbarasanKumar</a:t>
            </a:r>
            <a:r>
              <a:rPr lang="en-US" sz="800" b="0" strike="noStrike" spc="-1" dirty="0">
                <a:solidFill>
                  <a:srgbClr val="8A90A8"/>
                </a:solidFill>
                <a:latin typeface="Calibri"/>
              </a:rPr>
              <a:t>  |  Bhuvanesh Khanna G  |  Ariba Kausar  |  </a:t>
            </a:r>
            <a:r>
              <a:rPr lang="en-US" sz="800" b="0" strike="noStrike" spc="-1" dirty="0" err="1">
                <a:solidFill>
                  <a:srgbClr val="8A90A8"/>
                </a:solidFill>
                <a:latin typeface="Calibri"/>
              </a:rPr>
              <a:t>Harchitha</a:t>
            </a:r>
            <a:r>
              <a:rPr lang="en-US" sz="800" b="0" strike="noStrike" spc="-1" dirty="0">
                <a:solidFill>
                  <a:srgbClr val="8A90A8"/>
                </a:solidFill>
                <a:latin typeface="Calibri"/>
              </a:rPr>
              <a:t> N |  Varun K  |  </a:t>
            </a:r>
            <a:r>
              <a:rPr lang="en-US" sz="800" b="0" strike="noStrike" spc="-1" dirty="0" err="1">
                <a:solidFill>
                  <a:srgbClr val="8A90A8"/>
                </a:solidFill>
                <a:latin typeface="Calibri"/>
              </a:rPr>
              <a:t>Maleshkumar</a:t>
            </a:r>
            <a:r>
              <a:rPr lang="en-US" sz="800" b="0" strike="noStrike" spc="-1" dirty="0">
                <a:solidFill>
                  <a:srgbClr val="8A90A8"/>
                </a:solidFill>
                <a:latin typeface="Calibri"/>
              </a:rPr>
              <a:t> V  |  </a:t>
            </a:r>
            <a:r>
              <a:rPr lang="en-US" sz="800" b="0" strike="noStrike" spc="-1">
                <a:solidFill>
                  <a:srgbClr val="8A90A8"/>
                </a:solidFill>
                <a:latin typeface="Calibri"/>
              </a:rPr>
              <a:t>Syed Noureen</a:t>
            </a:r>
            <a:endParaRPr lang="en-IN" sz="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5" name="Shape 1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6" name="Text 2"/>
          <p:cNvSpPr/>
          <p:nvPr/>
        </p:nvSpPr>
        <p:spPr>
          <a:xfrm>
            <a:off x="457200" y="16452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50" b="1" strike="noStrike" spc="398">
                <a:solidFill>
                  <a:srgbClr val="C89B3C"/>
                </a:solidFill>
                <a:latin typeface="Calibri"/>
              </a:rPr>
              <a:t>AGENDA</a:t>
            </a:r>
            <a:endParaRPr lang="en-IN" sz="750" b="0" strike="noStrike" spc="-1"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457200" y="4024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rgbClr val="FFFFFF"/>
                </a:solidFill>
                <a:latin typeface="Cambria"/>
                <a:ea typeface="Cambria"/>
              </a:rPr>
              <a:t>What We'll Cover Today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78" name="Shape 4"/>
          <p:cNvSpPr/>
          <p:nvPr/>
        </p:nvSpPr>
        <p:spPr>
          <a:xfrm>
            <a:off x="365760" y="1115640"/>
            <a:ext cx="4205880" cy="7678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Shape 5"/>
          <p:cNvSpPr/>
          <p:nvPr/>
        </p:nvSpPr>
        <p:spPr>
          <a:xfrm>
            <a:off x="365760" y="1115640"/>
            <a:ext cx="54360" cy="7678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" name="Text 6"/>
          <p:cNvSpPr/>
          <p:nvPr/>
        </p:nvSpPr>
        <p:spPr>
          <a:xfrm>
            <a:off x="511920" y="117036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C89B3C"/>
                </a:solidFill>
                <a:latin typeface="Cambria"/>
                <a:ea typeface="Cambria"/>
              </a:rPr>
              <a:t>01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1051560" y="118872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Project Overview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1051560" y="149976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8A90A8"/>
                </a:solidFill>
                <a:latin typeface="Calibri"/>
              </a:rPr>
              <a:t>Problem statement &amp; objectives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83" name="Shape 9"/>
          <p:cNvSpPr/>
          <p:nvPr/>
        </p:nvSpPr>
        <p:spPr>
          <a:xfrm>
            <a:off x="4800600" y="1115640"/>
            <a:ext cx="4205880" cy="7678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4" name="Shape 10"/>
          <p:cNvSpPr/>
          <p:nvPr/>
        </p:nvSpPr>
        <p:spPr>
          <a:xfrm>
            <a:off x="4800600" y="1115640"/>
            <a:ext cx="54360" cy="7678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" name="Text 11"/>
          <p:cNvSpPr/>
          <p:nvPr/>
        </p:nvSpPr>
        <p:spPr>
          <a:xfrm>
            <a:off x="4946760" y="117036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C89B3C"/>
                </a:solidFill>
                <a:latin typeface="Cambria"/>
                <a:ea typeface="Cambria"/>
              </a:rPr>
              <a:t>02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86" name="Text 12"/>
          <p:cNvSpPr/>
          <p:nvPr/>
        </p:nvSpPr>
        <p:spPr>
          <a:xfrm>
            <a:off x="5486400" y="118872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Technology Stack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5486400" y="149976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8A90A8"/>
                </a:solidFill>
                <a:latin typeface="Calibri"/>
              </a:rPr>
              <a:t>Java, Spring Boot, MySQL, React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88" name="Shape 14"/>
          <p:cNvSpPr/>
          <p:nvPr/>
        </p:nvSpPr>
        <p:spPr>
          <a:xfrm>
            <a:off x="365760" y="2048400"/>
            <a:ext cx="4205880" cy="7678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" name="Shape 15"/>
          <p:cNvSpPr/>
          <p:nvPr/>
        </p:nvSpPr>
        <p:spPr>
          <a:xfrm>
            <a:off x="365760" y="2048400"/>
            <a:ext cx="54360" cy="7678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0" name="Text 16"/>
          <p:cNvSpPr/>
          <p:nvPr/>
        </p:nvSpPr>
        <p:spPr>
          <a:xfrm>
            <a:off x="511920" y="210312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C89B3C"/>
                </a:solidFill>
                <a:latin typeface="Cambria"/>
                <a:ea typeface="Cambria"/>
              </a:rPr>
              <a:t>03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91" name="Text 17"/>
          <p:cNvSpPr/>
          <p:nvPr/>
        </p:nvSpPr>
        <p:spPr>
          <a:xfrm>
            <a:off x="1051560" y="212148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System Architecture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92" name="Text 18"/>
          <p:cNvSpPr/>
          <p:nvPr/>
        </p:nvSpPr>
        <p:spPr>
          <a:xfrm>
            <a:off x="1051560" y="243216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8A90A8"/>
                </a:solidFill>
                <a:latin typeface="Calibri"/>
              </a:rPr>
              <a:t>3-layer architecture &amp; schema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93" name="Shape 19"/>
          <p:cNvSpPr/>
          <p:nvPr/>
        </p:nvSpPr>
        <p:spPr>
          <a:xfrm>
            <a:off x="4800600" y="2048400"/>
            <a:ext cx="4205880" cy="7678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4" name="Shape 20"/>
          <p:cNvSpPr/>
          <p:nvPr/>
        </p:nvSpPr>
        <p:spPr>
          <a:xfrm>
            <a:off x="4800600" y="2048400"/>
            <a:ext cx="54360" cy="7678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Text 21"/>
          <p:cNvSpPr/>
          <p:nvPr/>
        </p:nvSpPr>
        <p:spPr>
          <a:xfrm>
            <a:off x="4946760" y="210312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C89B3C"/>
                </a:solidFill>
                <a:latin typeface="Cambria"/>
                <a:ea typeface="Cambria"/>
              </a:rPr>
              <a:t>04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96" name="Text 22"/>
          <p:cNvSpPr/>
          <p:nvPr/>
        </p:nvSpPr>
        <p:spPr>
          <a:xfrm>
            <a:off x="5486400" y="212148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Modules Implemented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97" name="Text 23"/>
          <p:cNvSpPr/>
          <p:nvPr/>
        </p:nvSpPr>
        <p:spPr>
          <a:xfrm>
            <a:off x="5486400" y="243216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8A90A8"/>
                </a:solidFill>
                <a:latin typeface="Calibri"/>
              </a:rPr>
              <a:t>All 6 modules — Auth to Analytics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98" name="Shape 24"/>
          <p:cNvSpPr/>
          <p:nvPr/>
        </p:nvSpPr>
        <p:spPr>
          <a:xfrm>
            <a:off x="365760" y="2980800"/>
            <a:ext cx="4205880" cy="7678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9" name="Shape 25"/>
          <p:cNvSpPr/>
          <p:nvPr/>
        </p:nvSpPr>
        <p:spPr>
          <a:xfrm>
            <a:off x="365760" y="2980800"/>
            <a:ext cx="54360" cy="7678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0" name="Text 26"/>
          <p:cNvSpPr/>
          <p:nvPr/>
        </p:nvSpPr>
        <p:spPr>
          <a:xfrm>
            <a:off x="511920" y="303588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C89B3C"/>
                </a:solidFill>
                <a:latin typeface="Cambria"/>
                <a:ea typeface="Cambria"/>
              </a:rPr>
              <a:t>05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101" name="Text 27"/>
          <p:cNvSpPr/>
          <p:nvPr/>
        </p:nvSpPr>
        <p:spPr>
          <a:xfrm>
            <a:off x="1051560" y="305424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App Screenshots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02" name="Text 28"/>
          <p:cNvSpPr/>
          <p:nvPr/>
        </p:nvSpPr>
        <p:spPr>
          <a:xfrm>
            <a:off x="1051560" y="336492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8A90A8"/>
                </a:solidFill>
                <a:latin typeface="Calibri"/>
              </a:rPr>
              <a:t>Full portal walkthrough with real screenshots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103" name="Shape 29"/>
          <p:cNvSpPr/>
          <p:nvPr/>
        </p:nvSpPr>
        <p:spPr>
          <a:xfrm>
            <a:off x="4800600" y="2980800"/>
            <a:ext cx="4205880" cy="7678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Shape 30"/>
          <p:cNvSpPr/>
          <p:nvPr/>
        </p:nvSpPr>
        <p:spPr>
          <a:xfrm>
            <a:off x="4800600" y="2980800"/>
            <a:ext cx="54360" cy="7678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5" name="Text 31"/>
          <p:cNvSpPr/>
          <p:nvPr/>
        </p:nvSpPr>
        <p:spPr>
          <a:xfrm>
            <a:off x="4946760" y="303588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C89B3C"/>
                </a:solidFill>
                <a:latin typeface="Cambria"/>
                <a:ea typeface="Cambria"/>
              </a:rPr>
              <a:t>06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106" name="Text 32"/>
          <p:cNvSpPr/>
          <p:nvPr/>
        </p:nvSpPr>
        <p:spPr>
          <a:xfrm>
            <a:off x="5486400" y="305424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Chat Module ✓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07" name="Text 33"/>
          <p:cNvSpPr/>
          <p:nvPr/>
        </p:nvSpPr>
        <p:spPr>
          <a:xfrm>
            <a:off x="5486400" y="336492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8A90A8"/>
                </a:solidFill>
                <a:latin typeface="Calibri"/>
              </a:rPr>
              <a:t>WebSocket live chat — completed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108" name="Shape 34"/>
          <p:cNvSpPr/>
          <p:nvPr/>
        </p:nvSpPr>
        <p:spPr>
          <a:xfrm>
            <a:off x="365760" y="3913560"/>
            <a:ext cx="4205880" cy="7678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9" name="Shape 35"/>
          <p:cNvSpPr/>
          <p:nvPr/>
        </p:nvSpPr>
        <p:spPr>
          <a:xfrm>
            <a:off x="365760" y="3913560"/>
            <a:ext cx="54360" cy="7678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0" name="Text 36"/>
          <p:cNvSpPr/>
          <p:nvPr/>
        </p:nvSpPr>
        <p:spPr>
          <a:xfrm>
            <a:off x="511920" y="396864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C89B3C"/>
                </a:solidFill>
                <a:latin typeface="Cambria"/>
                <a:ea typeface="Cambria"/>
              </a:rPr>
              <a:t>07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111" name="Text 37"/>
          <p:cNvSpPr/>
          <p:nvPr/>
        </p:nvSpPr>
        <p:spPr>
          <a:xfrm>
            <a:off x="1051560" y="398664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8-Week Timeline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12" name="Text 38"/>
          <p:cNvSpPr/>
          <p:nvPr/>
        </p:nvSpPr>
        <p:spPr>
          <a:xfrm>
            <a:off x="1051560" y="429768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8A90A8"/>
                </a:solidFill>
                <a:latin typeface="Calibri"/>
              </a:rPr>
              <a:t>Milestones &amp; evaluation criteria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113" name="Shape 39"/>
          <p:cNvSpPr/>
          <p:nvPr/>
        </p:nvSpPr>
        <p:spPr>
          <a:xfrm>
            <a:off x="4800600" y="3913560"/>
            <a:ext cx="4205880" cy="7678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4" name="Shape 40"/>
          <p:cNvSpPr/>
          <p:nvPr/>
        </p:nvSpPr>
        <p:spPr>
          <a:xfrm>
            <a:off x="4800600" y="3913560"/>
            <a:ext cx="54360" cy="7678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5" name="Text 41"/>
          <p:cNvSpPr/>
          <p:nvPr/>
        </p:nvSpPr>
        <p:spPr>
          <a:xfrm>
            <a:off x="4946760" y="396864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C89B3C"/>
                </a:solidFill>
                <a:latin typeface="Cambria"/>
                <a:ea typeface="Cambria"/>
              </a:rPr>
              <a:t>08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116" name="Text 42"/>
          <p:cNvSpPr/>
          <p:nvPr/>
        </p:nvSpPr>
        <p:spPr>
          <a:xfrm>
            <a:off x="5486400" y="398664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Future Enhancements &amp; Conclusion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17" name="Text 43"/>
          <p:cNvSpPr/>
          <p:nvPr/>
        </p:nvSpPr>
        <p:spPr>
          <a:xfrm>
            <a:off x="5486400" y="429768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8A90A8"/>
                </a:solidFill>
                <a:latin typeface="Calibri"/>
              </a:rPr>
              <a:t>Upcoming features &amp; key takeaways</a:t>
            </a:r>
            <a:endParaRPr lang="en-IN" sz="95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9" name="Shape 1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0" name="Text 2"/>
          <p:cNvSpPr/>
          <p:nvPr/>
        </p:nvSpPr>
        <p:spPr>
          <a:xfrm>
            <a:off x="457200" y="16452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50" b="1" strike="noStrike" spc="398">
                <a:solidFill>
                  <a:srgbClr val="C89B3C"/>
                </a:solidFill>
                <a:latin typeface="Calibri"/>
              </a:rPr>
              <a:t>PROJECT OVERVIEW</a:t>
            </a:r>
            <a:endParaRPr lang="en-IN" sz="750" b="0" strike="noStrike" spc="-1">
              <a:latin typeface="Arial"/>
            </a:endParaRPr>
          </a:p>
        </p:txBody>
      </p:sp>
      <p:sp>
        <p:nvSpPr>
          <p:cNvPr id="121" name="Text 3"/>
          <p:cNvSpPr/>
          <p:nvPr/>
        </p:nvSpPr>
        <p:spPr>
          <a:xfrm>
            <a:off x="457200" y="4024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Cambria"/>
                <a:ea typeface="Cambria"/>
              </a:rPr>
              <a:t>Problem Statement &amp; Our Solution</a:t>
            </a:r>
            <a:endParaRPr lang="en-IN" sz="2600" b="0" strike="noStrike" spc="-1">
              <a:latin typeface="Arial"/>
            </a:endParaRPr>
          </a:p>
        </p:txBody>
      </p:sp>
      <p:sp>
        <p:nvSpPr>
          <p:cNvPr id="122" name="Shape 4"/>
          <p:cNvSpPr/>
          <p:nvPr/>
        </p:nvSpPr>
        <p:spPr>
          <a:xfrm>
            <a:off x="365760" y="1143000"/>
            <a:ext cx="4068720" cy="365724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Shape 5"/>
          <p:cNvSpPr/>
          <p:nvPr/>
        </p:nvSpPr>
        <p:spPr>
          <a:xfrm>
            <a:off x="365760" y="1143000"/>
            <a:ext cx="4068720" cy="38376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4" name="Text 6"/>
          <p:cNvSpPr/>
          <p:nvPr/>
        </p:nvSpPr>
        <p:spPr>
          <a:xfrm>
            <a:off x="365760" y="1143000"/>
            <a:ext cx="40687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299">
                <a:solidFill>
                  <a:srgbClr val="FFFFFF"/>
                </a:solidFill>
                <a:latin typeface="Calibri"/>
              </a:rPr>
              <a:t>THE PROBLEM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125" name="Shape 7"/>
          <p:cNvSpPr/>
          <p:nvPr/>
        </p:nvSpPr>
        <p:spPr>
          <a:xfrm>
            <a:off x="548640" y="1664280"/>
            <a:ext cx="3702960" cy="365400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6" name="Text 8"/>
          <p:cNvSpPr/>
          <p:nvPr/>
        </p:nvSpPr>
        <p:spPr>
          <a:xfrm>
            <a:off x="640080" y="166428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>
                <a:solidFill>
                  <a:srgbClr val="E05252"/>
                </a:solidFill>
                <a:latin typeface="Calibri"/>
              </a:rPr>
              <a:t>  </a:t>
            </a:r>
            <a:r>
              <a:rPr lang="en-US" sz="1050" b="0" strike="noStrike" spc="-1">
                <a:solidFill>
                  <a:srgbClr val="D8D4CC"/>
                </a:solidFill>
                <a:latin typeface="Calibri"/>
              </a:rPr>
              <a:t>No centralized campus lost &amp; found platform</a:t>
            </a:r>
            <a:endParaRPr lang="en-IN" sz="1050" b="0" strike="noStrike" spc="-1">
              <a:latin typeface="Arial"/>
            </a:endParaRPr>
          </a:p>
        </p:txBody>
      </p:sp>
      <p:sp>
        <p:nvSpPr>
          <p:cNvPr id="127" name="Shape 9"/>
          <p:cNvSpPr/>
          <p:nvPr/>
        </p:nvSpPr>
        <p:spPr>
          <a:xfrm>
            <a:off x="548640" y="2121480"/>
            <a:ext cx="3702960" cy="365400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8" name="Text 10"/>
          <p:cNvSpPr/>
          <p:nvPr/>
        </p:nvSpPr>
        <p:spPr>
          <a:xfrm>
            <a:off x="640080" y="212148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>
                <a:solidFill>
                  <a:srgbClr val="E05252"/>
                </a:solidFill>
                <a:latin typeface="Calibri"/>
              </a:rPr>
              <a:t>  </a:t>
            </a:r>
            <a:r>
              <a:rPr lang="en-US" sz="1050" b="0" strike="noStrike" spc="-1">
                <a:solidFill>
                  <a:srgbClr val="D8D4CC"/>
                </a:solidFill>
                <a:latin typeface="Calibri"/>
              </a:rPr>
              <a:t>Students rely on notice boards &amp; word of mouth</a:t>
            </a:r>
            <a:endParaRPr lang="en-IN" sz="1050" b="0" strike="noStrike" spc="-1">
              <a:latin typeface="Arial"/>
            </a:endParaRPr>
          </a:p>
        </p:txBody>
      </p:sp>
      <p:sp>
        <p:nvSpPr>
          <p:cNvPr id="129" name="Shape 11"/>
          <p:cNvSpPr/>
          <p:nvPr/>
        </p:nvSpPr>
        <p:spPr>
          <a:xfrm>
            <a:off x="548640" y="2578680"/>
            <a:ext cx="3702960" cy="365400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0" name="Text 12"/>
          <p:cNvSpPr/>
          <p:nvPr/>
        </p:nvSpPr>
        <p:spPr>
          <a:xfrm>
            <a:off x="640080" y="257868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>
                <a:solidFill>
                  <a:srgbClr val="E05252"/>
                </a:solidFill>
                <a:latin typeface="Calibri"/>
              </a:rPr>
              <a:t>  </a:t>
            </a:r>
            <a:r>
              <a:rPr lang="en-US" sz="1050" b="0" strike="noStrike" spc="-1">
                <a:solidFill>
                  <a:srgbClr val="D8D4CC"/>
                </a:solidFill>
                <a:latin typeface="Calibri"/>
              </a:rPr>
              <a:t>No way to verify if a found item matches a report</a:t>
            </a:r>
            <a:endParaRPr lang="en-IN" sz="1050" b="0" strike="noStrike" spc="-1">
              <a:latin typeface="Arial"/>
            </a:endParaRPr>
          </a:p>
        </p:txBody>
      </p:sp>
      <p:sp>
        <p:nvSpPr>
          <p:cNvPr id="131" name="Shape 13"/>
          <p:cNvSpPr/>
          <p:nvPr/>
        </p:nvSpPr>
        <p:spPr>
          <a:xfrm>
            <a:off x="548640" y="3035880"/>
            <a:ext cx="3702960" cy="365400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2" name="Text 14"/>
          <p:cNvSpPr/>
          <p:nvPr/>
        </p:nvSpPr>
        <p:spPr>
          <a:xfrm>
            <a:off x="640080" y="303588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>
                <a:solidFill>
                  <a:srgbClr val="E05252"/>
                </a:solidFill>
                <a:latin typeface="Calibri"/>
              </a:rPr>
              <a:t>  </a:t>
            </a:r>
            <a:r>
              <a:rPr lang="en-US" sz="1050" b="0" strike="noStrike" spc="-1">
                <a:solidFill>
                  <a:srgbClr val="D8D4CC"/>
                </a:solidFill>
                <a:latin typeface="Calibri"/>
              </a:rPr>
              <a:t>No secure channel for owner &amp; finder to connect</a:t>
            </a:r>
            <a:endParaRPr lang="en-IN" sz="1050" b="0" strike="noStrike" spc="-1">
              <a:latin typeface="Arial"/>
            </a:endParaRPr>
          </a:p>
        </p:txBody>
      </p:sp>
      <p:sp>
        <p:nvSpPr>
          <p:cNvPr id="133" name="Shape 17"/>
          <p:cNvSpPr/>
          <p:nvPr/>
        </p:nvSpPr>
        <p:spPr>
          <a:xfrm>
            <a:off x="4709160" y="1143000"/>
            <a:ext cx="4068720" cy="365724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4" name="Shape 18"/>
          <p:cNvSpPr/>
          <p:nvPr/>
        </p:nvSpPr>
        <p:spPr>
          <a:xfrm>
            <a:off x="4709160" y="1143000"/>
            <a:ext cx="4068720" cy="38376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5" name="Text 19"/>
          <p:cNvSpPr/>
          <p:nvPr/>
        </p:nvSpPr>
        <p:spPr>
          <a:xfrm>
            <a:off x="4709160" y="1143000"/>
            <a:ext cx="40687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299">
                <a:solidFill>
                  <a:srgbClr val="FFFFFF"/>
                </a:solidFill>
                <a:latin typeface="Calibri"/>
              </a:rPr>
              <a:t>OUR SOLUTION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136" name="Shape 20"/>
          <p:cNvSpPr/>
          <p:nvPr/>
        </p:nvSpPr>
        <p:spPr>
          <a:xfrm>
            <a:off x="4892040" y="1664280"/>
            <a:ext cx="3702960" cy="365400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7" name="Text 21"/>
          <p:cNvSpPr/>
          <p:nvPr/>
        </p:nvSpPr>
        <p:spPr>
          <a:xfrm>
            <a:off x="4983480" y="166428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>
                <a:solidFill>
                  <a:srgbClr val="4CAF7D"/>
                </a:solidFill>
                <a:latin typeface="Calibri"/>
              </a:rPr>
              <a:t>  </a:t>
            </a:r>
            <a:r>
              <a:rPr lang="en-US" sz="1050" b="0" strike="noStrike" spc="-1">
                <a:solidFill>
                  <a:srgbClr val="D8D4CC"/>
                </a:solidFill>
                <a:latin typeface="Calibri"/>
              </a:rPr>
              <a:t>Campus-restricted lost and found listings</a:t>
            </a:r>
            <a:endParaRPr lang="en-IN" sz="1050" b="0" strike="noStrike" spc="-1">
              <a:latin typeface="Arial"/>
            </a:endParaRPr>
          </a:p>
        </p:txBody>
      </p:sp>
      <p:sp>
        <p:nvSpPr>
          <p:cNvPr id="138" name="Shape 22"/>
          <p:cNvSpPr/>
          <p:nvPr/>
        </p:nvSpPr>
        <p:spPr>
          <a:xfrm>
            <a:off x="4892040" y="2121480"/>
            <a:ext cx="3702960" cy="365400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9" name="Text 23"/>
          <p:cNvSpPr/>
          <p:nvPr/>
        </p:nvSpPr>
        <p:spPr>
          <a:xfrm>
            <a:off x="4983480" y="212148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>
                <a:solidFill>
                  <a:srgbClr val="4CAF7D"/>
                </a:solidFill>
                <a:latin typeface="Calibri"/>
              </a:rPr>
              <a:t>  </a:t>
            </a:r>
            <a:r>
              <a:rPr lang="en-US" sz="1050" b="0" strike="noStrike" spc="-1">
                <a:solidFill>
                  <a:srgbClr val="D8D4CC"/>
                </a:solidFill>
                <a:latin typeface="Calibri"/>
              </a:rPr>
              <a:t>Smart keyword + fuzzy matching engine</a:t>
            </a:r>
            <a:endParaRPr lang="en-IN" sz="1050" b="0" strike="noStrike" spc="-1">
              <a:latin typeface="Arial"/>
            </a:endParaRPr>
          </a:p>
        </p:txBody>
      </p:sp>
      <p:sp>
        <p:nvSpPr>
          <p:cNvPr id="140" name="Shape 24"/>
          <p:cNvSpPr/>
          <p:nvPr/>
        </p:nvSpPr>
        <p:spPr>
          <a:xfrm>
            <a:off x="4892040" y="2578680"/>
            <a:ext cx="3702960" cy="365400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1" name="Text 25"/>
          <p:cNvSpPr/>
          <p:nvPr/>
        </p:nvSpPr>
        <p:spPr>
          <a:xfrm>
            <a:off x="4983480" y="257868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>
                <a:solidFill>
                  <a:srgbClr val="4CAF7D"/>
                </a:solidFill>
                <a:latin typeface="Calibri"/>
              </a:rPr>
              <a:t>  </a:t>
            </a:r>
            <a:r>
              <a:rPr lang="en-US" sz="1050" b="0" strike="noStrike" spc="-1">
                <a:solidFill>
                  <a:srgbClr val="D8D4CC"/>
                </a:solidFill>
                <a:latin typeface="Calibri"/>
              </a:rPr>
              <a:t>Category browsing, filtering by location</a:t>
            </a:r>
            <a:endParaRPr lang="en-IN" sz="1050" b="0" strike="noStrike" spc="-1">
              <a:latin typeface="Arial"/>
            </a:endParaRPr>
          </a:p>
        </p:txBody>
      </p:sp>
      <p:sp>
        <p:nvSpPr>
          <p:cNvPr id="142" name="Shape 26"/>
          <p:cNvSpPr/>
          <p:nvPr/>
        </p:nvSpPr>
        <p:spPr>
          <a:xfrm>
            <a:off x="4892040" y="3035880"/>
            <a:ext cx="3702960" cy="365400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3" name="Text 27"/>
          <p:cNvSpPr/>
          <p:nvPr/>
        </p:nvSpPr>
        <p:spPr>
          <a:xfrm>
            <a:off x="4983480" y="303588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>
                <a:solidFill>
                  <a:srgbClr val="4CAF7D"/>
                </a:solidFill>
                <a:latin typeface="Calibri"/>
              </a:rPr>
              <a:t>  </a:t>
            </a:r>
            <a:r>
              <a:rPr lang="en-US" sz="1050" b="0" strike="noStrike" spc="-1">
                <a:solidFill>
                  <a:srgbClr val="D8D4CC"/>
                </a:solidFill>
                <a:latin typeface="Calibri"/>
              </a:rPr>
              <a:t>WebSocket live chat — securely connect users</a:t>
            </a:r>
            <a:endParaRPr lang="en-IN" sz="105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Shape 1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6" name="Text 2"/>
          <p:cNvSpPr/>
          <p:nvPr/>
        </p:nvSpPr>
        <p:spPr>
          <a:xfrm>
            <a:off x="457200" y="16452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50" b="1" strike="noStrike" spc="398">
                <a:solidFill>
                  <a:srgbClr val="C89B3C"/>
                </a:solidFill>
                <a:latin typeface="Calibri"/>
              </a:rPr>
              <a:t>TECHNOLOGY STACK</a:t>
            </a:r>
            <a:endParaRPr lang="en-IN" sz="750" b="0" strike="noStrike" spc="-1"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57200" y="4024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Cambria"/>
                <a:ea typeface="Cambria"/>
              </a:rPr>
              <a:t>Tools &amp; Frameworks Used</a:t>
            </a:r>
            <a:endParaRPr lang="en-IN" sz="2600" b="0" strike="noStrike" spc="-1">
              <a:latin typeface="Arial"/>
            </a:endParaRPr>
          </a:p>
        </p:txBody>
      </p:sp>
      <p:sp>
        <p:nvSpPr>
          <p:cNvPr id="148" name="Shape 4"/>
          <p:cNvSpPr/>
          <p:nvPr/>
        </p:nvSpPr>
        <p:spPr>
          <a:xfrm>
            <a:off x="320040" y="1170360"/>
            <a:ext cx="2011320" cy="162720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9" name="Shape 5"/>
          <p:cNvSpPr/>
          <p:nvPr/>
        </p:nvSpPr>
        <p:spPr>
          <a:xfrm>
            <a:off x="320040" y="1170360"/>
            <a:ext cx="2011320" cy="63720"/>
          </a:xfrm>
          <a:prstGeom prst="rect">
            <a:avLst/>
          </a:prstGeom>
          <a:solidFill>
            <a:srgbClr val="1A6FBE"/>
          </a:solidFill>
          <a:ln w="12700">
            <a:solidFill>
              <a:srgbClr val="1A6F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0" name="Text 6"/>
          <p:cNvSpPr/>
          <p:nvPr/>
        </p:nvSpPr>
        <p:spPr>
          <a:xfrm>
            <a:off x="320040" y="12985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199">
                <a:solidFill>
                  <a:srgbClr val="1A6FBE"/>
                </a:solidFill>
                <a:latin typeface="Calibri"/>
              </a:rPr>
              <a:t>FRONTEND</a:t>
            </a:r>
            <a:endParaRPr lang="en-IN" sz="800" b="0" strike="noStrike" spc="-1">
              <a:latin typeface="Arial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320040" y="155448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React.js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411480" y="21762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Dynamic UI framework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53" name="Shape 9"/>
          <p:cNvSpPr/>
          <p:nvPr/>
        </p:nvSpPr>
        <p:spPr>
          <a:xfrm>
            <a:off x="2468880" y="1170360"/>
            <a:ext cx="2011320" cy="162720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4" name="Shape 10"/>
          <p:cNvSpPr/>
          <p:nvPr/>
        </p:nvSpPr>
        <p:spPr>
          <a:xfrm>
            <a:off x="2468880" y="1170360"/>
            <a:ext cx="2011320" cy="6372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5" name="Text 11"/>
          <p:cNvSpPr/>
          <p:nvPr/>
        </p:nvSpPr>
        <p:spPr>
          <a:xfrm>
            <a:off x="2468880" y="12985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199">
                <a:solidFill>
                  <a:srgbClr val="6DB33F"/>
                </a:solidFill>
                <a:latin typeface="Calibri"/>
              </a:rPr>
              <a:t>BACKEND</a:t>
            </a:r>
            <a:endParaRPr lang="en-IN" sz="800" b="0" strike="noStrike" spc="-1">
              <a:latin typeface="Arial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2468880" y="155448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Java Spring Boot 3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2560320" y="21762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REST API &amp; business logic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58" name="Shape 14"/>
          <p:cNvSpPr/>
          <p:nvPr/>
        </p:nvSpPr>
        <p:spPr>
          <a:xfrm>
            <a:off x="4617720" y="1170360"/>
            <a:ext cx="2011320" cy="162720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9" name="Shape 15"/>
          <p:cNvSpPr/>
          <p:nvPr/>
        </p:nvSpPr>
        <p:spPr>
          <a:xfrm>
            <a:off x="4617720" y="1170360"/>
            <a:ext cx="2011320" cy="63720"/>
          </a:xfrm>
          <a:prstGeom prst="rect">
            <a:avLst/>
          </a:prstGeom>
          <a:solidFill>
            <a:srgbClr val="E78C35"/>
          </a:solidFill>
          <a:ln w="12700">
            <a:solidFill>
              <a:srgbClr val="E78C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0" name="Text 16"/>
          <p:cNvSpPr/>
          <p:nvPr/>
        </p:nvSpPr>
        <p:spPr>
          <a:xfrm>
            <a:off x="4617720" y="12985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199">
                <a:solidFill>
                  <a:srgbClr val="E78C35"/>
                </a:solidFill>
                <a:latin typeface="Calibri"/>
              </a:rPr>
              <a:t>DATABASE</a:t>
            </a:r>
            <a:endParaRPr lang="en-IN" sz="800" b="0" strike="noStrike" spc="-1">
              <a:latin typeface="Arial"/>
            </a:endParaRPr>
          </a:p>
        </p:txBody>
      </p:sp>
      <p:sp>
        <p:nvSpPr>
          <p:cNvPr id="161" name="Text 17"/>
          <p:cNvSpPr/>
          <p:nvPr/>
        </p:nvSpPr>
        <p:spPr>
          <a:xfrm>
            <a:off x="4617720" y="155448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MySQL 8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62" name="Text 18"/>
          <p:cNvSpPr/>
          <p:nvPr/>
        </p:nvSpPr>
        <p:spPr>
          <a:xfrm>
            <a:off x="4709160" y="21762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Relational database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63" name="Shape 19"/>
          <p:cNvSpPr/>
          <p:nvPr/>
        </p:nvSpPr>
        <p:spPr>
          <a:xfrm>
            <a:off x="6766560" y="1170360"/>
            <a:ext cx="2011320" cy="162720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4" name="Shape 20"/>
          <p:cNvSpPr/>
          <p:nvPr/>
        </p:nvSpPr>
        <p:spPr>
          <a:xfrm>
            <a:off x="6766560" y="1170360"/>
            <a:ext cx="2011320" cy="63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5" name="Text 21"/>
          <p:cNvSpPr/>
          <p:nvPr/>
        </p:nvSpPr>
        <p:spPr>
          <a:xfrm>
            <a:off x="6766560" y="12985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199">
                <a:solidFill>
                  <a:srgbClr val="7C3AED"/>
                </a:solidFill>
                <a:latin typeface="Calibri"/>
              </a:rPr>
              <a:t>AUTH</a:t>
            </a:r>
            <a:endParaRPr lang="en-IN" sz="800" b="0" strike="noStrike" spc="-1">
              <a:latin typeface="Arial"/>
            </a:endParaRPr>
          </a:p>
        </p:txBody>
      </p:sp>
      <p:sp>
        <p:nvSpPr>
          <p:cNvPr id="166" name="Text 22"/>
          <p:cNvSpPr/>
          <p:nvPr/>
        </p:nvSpPr>
        <p:spPr>
          <a:xfrm>
            <a:off x="6766560" y="155448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Spring Security + JWT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67" name="Text 23"/>
          <p:cNvSpPr/>
          <p:nvPr/>
        </p:nvSpPr>
        <p:spPr>
          <a:xfrm>
            <a:off x="6858000" y="21762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Authentication &amp; authorization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68" name="Shape 24"/>
          <p:cNvSpPr/>
          <p:nvPr/>
        </p:nvSpPr>
        <p:spPr>
          <a:xfrm>
            <a:off x="320040" y="2999160"/>
            <a:ext cx="2011320" cy="162720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9" name="Shape 25"/>
          <p:cNvSpPr/>
          <p:nvPr/>
        </p:nvSpPr>
        <p:spPr>
          <a:xfrm>
            <a:off x="320040" y="2999160"/>
            <a:ext cx="2011320" cy="63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0" name="Text 26"/>
          <p:cNvSpPr/>
          <p:nvPr/>
        </p:nvSpPr>
        <p:spPr>
          <a:xfrm>
            <a:off x="320040" y="31273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199">
                <a:solidFill>
                  <a:srgbClr val="0891B2"/>
                </a:solidFill>
                <a:latin typeface="Calibri"/>
              </a:rPr>
              <a:t>REAL-TIME</a:t>
            </a:r>
            <a:endParaRPr lang="en-IN" sz="800" b="0" strike="noStrike" spc="-1">
              <a:latin typeface="Arial"/>
            </a:endParaRPr>
          </a:p>
        </p:txBody>
      </p:sp>
      <p:sp>
        <p:nvSpPr>
          <p:cNvPr id="171" name="Text 27"/>
          <p:cNvSpPr/>
          <p:nvPr/>
        </p:nvSpPr>
        <p:spPr>
          <a:xfrm>
            <a:off x="320040" y="338328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WebSocket (STOMP)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72" name="Text 28"/>
          <p:cNvSpPr/>
          <p:nvPr/>
        </p:nvSpPr>
        <p:spPr>
          <a:xfrm>
            <a:off x="411480" y="40050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Live chat &amp; messaging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73" name="Shape 29"/>
          <p:cNvSpPr/>
          <p:nvPr/>
        </p:nvSpPr>
        <p:spPr>
          <a:xfrm>
            <a:off x="2468880" y="2999160"/>
            <a:ext cx="2011320" cy="162720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Shape 30"/>
          <p:cNvSpPr/>
          <p:nvPr/>
        </p:nvSpPr>
        <p:spPr>
          <a:xfrm>
            <a:off x="2468880" y="2999160"/>
            <a:ext cx="2011320" cy="6372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Text 31"/>
          <p:cNvSpPr/>
          <p:nvPr/>
        </p:nvSpPr>
        <p:spPr>
          <a:xfrm>
            <a:off x="2468880" y="31273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199">
                <a:solidFill>
                  <a:srgbClr val="BE185D"/>
                </a:solidFill>
                <a:latin typeface="Calibri"/>
              </a:rPr>
              <a:t>ORM</a:t>
            </a:r>
            <a:endParaRPr lang="en-IN" sz="800" b="0" strike="noStrike" spc="-1">
              <a:latin typeface="Arial"/>
            </a:endParaRPr>
          </a:p>
        </p:txBody>
      </p:sp>
      <p:sp>
        <p:nvSpPr>
          <p:cNvPr id="176" name="Text 32"/>
          <p:cNvSpPr/>
          <p:nvPr/>
        </p:nvSpPr>
        <p:spPr>
          <a:xfrm>
            <a:off x="2468880" y="338328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Spring Data JPA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77" name="Text 33"/>
          <p:cNvSpPr/>
          <p:nvPr/>
        </p:nvSpPr>
        <p:spPr>
          <a:xfrm>
            <a:off x="2560320" y="40050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Database interaction layer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78" name="Shape 34"/>
          <p:cNvSpPr/>
          <p:nvPr/>
        </p:nvSpPr>
        <p:spPr>
          <a:xfrm>
            <a:off x="4617720" y="2999160"/>
            <a:ext cx="2011320" cy="162720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9" name="Shape 35"/>
          <p:cNvSpPr/>
          <p:nvPr/>
        </p:nvSpPr>
        <p:spPr>
          <a:xfrm>
            <a:off x="4617720" y="2999160"/>
            <a:ext cx="2011320" cy="6372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0" name="Text 36"/>
          <p:cNvSpPr/>
          <p:nvPr/>
        </p:nvSpPr>
        <p:spPr>
          <a:xfrm>
            <a:off x="4617720" y="31273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199">
                <a:solidFill>
                  <a:srgbClr val="C89B3C"/>
                </a:solidFill>
                <a:latin typeface="Calibri"/>
              </a:rPr>
              <a:t>IDE</a:t>
            </a:r>
            <a:endParaRPr lang="en-IN" sz="800" b="0" strike="noStrike" spc="-1">
              <a:latin typeface="Arial"/>
            </a:endParaRPr>
          </a:p>
        </p:txBody>
      </p:sp>
      <p:sp>
        <p:nvSpPr>
          <p:cNvPr id="181" name="Text 37"/>
          <p:cNvSpPr/>
          <p:nvPr/>
        </p:nvSpPr>
        <p:spPr>
          <a:xfrm>
            <a:off x="4617720" y="338328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VS Code / Eclipse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82" name="Text 38"/>
          <p:cNvSpPr/>
          <p:nvPr/>
        </p:nvSpPr>
        <p:spPr>
          <a:xfrm>
            <a:off x="4709160" y="40050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Development environment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83" name="Shape 39"/>
          <p:cNvSpPr/>
          <p:nvPr/>
        </p:nvSpPr>
        <p:spPr>
          <a:xfrm>
            <a:off x="6766560" y="2999160"/>
            <a:ext cx="2011320" cy="162720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4" name="Shape 40"/>
          <p:cNvSpPr/>
          <p:nvPr/>
        </p:nvSpPr>
        <p:spPr>
          <a:xfrm>
            <a:off x="6766560" y="2999160"/>
            <a:ext cx="2011320" cy="63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5" name="Text 41"/>
          <p:cNvSpPr/>
          <p:nvPr/>
        </p:nvSpPr>
        <p:spPr>
          <a:xfrm>
            <a:off x="6766560" y="31273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199">
                <a:solidFill>
                  <a:srgbClr val="D97706"/>
                </a:solidFill>
                <a:latin typeface="Calibri"/>
              </a:rPr>
              <a:t>BUILD</a:t>
            </a:r>
            <a:endParaRPr lang="en-IN" sz="800" b="0" strike="noStrike" spc="-1">
              <a:latin typeface="Arial"/>
            </a:endParaRPr>
          </a:p>
        </p:txBody>
      </p:sp>
      <p:sp>
        <p:nvSpPr>
          <p:cNvPr id="186" name="Text 42"/>
          <p:cNvSpPr/>
          <p:nvPr/>
        </p:nvSpPr>
        <p:spPr>
          <a:xfrm>
            <a:off x="6766560" y="338328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Maven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87" name="Text 43"/>
          <p:cNvSpPr/>
          <p:nvPr/>
        </p:nvSpPr>
        <p:spPr>
          <a:xfrm>
            <a:off x="6858000" y="40050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Dependency management</a:t>
            </a:r>
            <a:endParaRPr lang="en-IN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0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9" name="Shape 1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0" name="Text 2"/>
          <p:cNvSpPr/>
          <p:nvPr/>
        </p:nvSpPr>
        <p:spPr>
          <a:xfrm>
            <a:off x="457200" y="16452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50" b="1" strike="noStrike" spc="398">
                <a:solidFill>
                  <a:srgbClr val="C89B3C"/>
                </a:solidFill>
                <a:latin typeface="Calibri"/>
              </a:rPr>
              <a:t>SYSTEM ARCHITECTURE</a:t>
            </a:r>
            <a:endParaRPr lang="en-IN" sz="750" b="0" strike="noStrike" spc="-1">
              <a:latin typeface="Arial"/>
            </a:endParaRPr>
          </a:p>
        </p:txBody>
      </p:sp>
      <p:sp>
        <p:nvSpPr>
          <p:cNvPr id="191" name="Text 3"/>
          <p:cNvSpPr/>
          <p:nvPr/>
        </p:nvSpPr>
        <p:spPr>
          <a:xfrm>
            <a:off x="457200" y="4024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Cambria"/>
                <a:ea typeface="Cambria"/>
              </a:rPr>
              <a:t>Three-Layer Architecture</a:t>
            </a:r>
            <a:endParaRPr lang="en-IN" sz="2600" b="0" strike="noStrike" spc="-1">
              <a:latin typeface="Arial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365760" y="1170360"/>
            <a:ext cx="2651400" cy="365724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3" name="Shape 5"/>
          <p:cNvSpPr/>
          <p:nvPr/>
        </p:nvSpPr>
        <p:spPr>
          <a:xfrm>
            <a:off x="365760" y="1170360"/>
            <a:ext cx="2651400" cy="383760"/>
          </a:xfrm>
          <a:prstGeom prst="rect">
            <a:avLst/>
          </a:prstGeom>
          <a:solidFill>
            <a:srgbClr val="1A6FBE"/>
          </a:solidFill>
          <a:ln w="12700">
            <a:solidFill>
              <a:srgbClr val="1A6F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4" name="Text 6"/>
          <p:cNvSpPr/>
          <p:nvPr/>
        </p:nvSpPr>
        <p:spPr>
          <a:xfrm>
            <a:off x="365760" y="117036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97">
                <a:solidFill>
                  <a:srgbClr val="FFFFFF"/>
                </a:solidFill>
                <a:latin typeface="Calibri"/>
              </a:rPr>
              <a:t>PRESENTATION LAYER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95" name="Shape 7"/>
          <p:cNvSpPr/>
          <p:nvPr/>
        </p:nvSpPr>
        <p:spPr>
          <a:xfrm>
            <a:off x="530280" y="1691640"/>
            <a:ext cx="2322360" cy="529920"/>
          </a:xfrm>
          <a:prstGeom prst="rect">
            <a:avLst/>
          </a:prstGeom>
          <a:solidFill>
            <a:srgbClr val="0B0D18"/>
          </a:solidFill>
          <a:ln w="6350">
            <a:solidFill>
              <a:srgbClr val="1A6F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6" name="Text 8"/>
          <p:cNvSpPr/>
          <p:nvPr/>
        </p:nvSpPr>
        <p:spPr>
          <a:xfrm>
            <a:off x="530280" y="1691640"/>
            <a:ext cx="23223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D8D4CC"/>
                </a:solidFill>
                <a:latin typeface="Calibri"/>
              </a:rPr>
              <a:t>React.js Frontend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197" name="Shape 9"/>
          <p:cNvSpPr/>
          <p:nvPr/>
        </p:nvSpPr>
        <p:spPr>
          <a:xfrm>
            <a:off x="530280" y="2377440"/>
            <a:ext cx="2322360" cy="529920"/>
          </a:xfrm>
          <a:prstGeom prst="rect">
            <a:avLst/>
          </a:prstGeom>
          <a:solidFill>
            <a:srgbClr val="0B0D18"/>
          </a:solidFill>
          <a:ln w="6350">
            <a:solidFill>
              <a:srgbClr val="1A6F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8" name="Text 10"/>
          <p:cNvSpPr/>
          <p:nvPr/>
        </p:nvSpPr>
        <p:spPr>
          <a:xfrm>
            <a:off x="530280" y="2377440"/>
            <a:ext cx="23223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D8D4CC"/>
                </a:solidFill>
                <a:latin typeface="Calibri"/>
              </a:rPr>
              <a:t>Login / Register UI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199" name="Shape 11"/>
          <p:cNvSpPr/>
          <p:nvPr/>
        </p:nvSpPr>
        <p:spPr>
          <a:xfrm>
            <a:off x="530280" y="3063240"/>
            <a:ext cx="2322360" cy="529920"/>
          </a:xfrm>
          <a:prstGeom prst="rect">
            <a:avLst/>
          </a:prstGeom>
          <a:solidFill>
            <a:srgbClr val="0B0D18"/>
          </a:solidFill>
          <a:ln w="6350">
            <a:solidFill>
              <a:srgbClr val="1A6F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0" name="Text 12"/>
          <p:cNvSpPr/>
          <p:nvPr/>
        </p:nvSpPr>
        <p:spPr>
          <a:xfrm>
            <a:off x="530280" y="3063240"/>
            <a:ext cx="23223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D8D4CC"/>
                </a:solidFill>
                <a:latin typeface="Calibri"/>
              </a:rPr>
              <a:t>Dashboard &amp; Forms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201" name="Shape 13"/>
          <p:cNvSpPr/>
          <p:nvPr/>
        </p:nvSpPr>
        <p:spPr>
          <a:xfrm>
            <a:off x="530280" y="3749040"/>
            <a:ext cx="2322360" cy="529920"/>
          </a:xfrm>
          <a:prstGeom prst="rect">
            <a:avLst/>
          </a:prstGeom>
          <a:solidFill>
            <a:srgbClr val="0B0D18"/>
          </a:solidFill>
          <a:ln w="6350">
            <a:solidFill>
              <a:srgbClr val="1A6F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2" name="Text 14"/>
          <p:cNvSpPr/>
          <p:nvPr/>
        </p:nvSpPr>
        <p:spPr>
          <a:xfrm>
            <a:off x="530280" y="3749040"/>
            <a:ext cx="23223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D8D4CC"/>
                </a:solidFill>
                <a:latin typeface="Calibri"/>
              </a:rPr>
              <a:t>Live Chat Interface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203" name="Shape 15"/>
          <p:cNvSpPr/>
          <p:nvPr/>
        </p:nvSpPr>
        <p:spPr>
          <a:xfrm>
            <a:off x="3017520" y="2926080"/>
            <a:ext cx="182520" cy="363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4" name="Shape 16"/>
          <p:cNvSpPr/>
          <p:nvPr/>
        </p:nvSpPr>
        <p:spPr>
          <a:xfrm>
            <a:off x="3200400" y="1170360"/>
            <a:ext cx="2651400" cy="365724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5" name="Shape 17"/>
          <p:cNvSpPr/>
          <p:nvPr/>
        </p:nvSpPr>
        <p:spPr>
          <a:xfrm>
            <a:off x="3200400" y="1170360"/>
            <a:ext cx="2651400" cy="38376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6" name="Text 18"/>
          <p:cNvSpPr/>
          <p:nvPr/>
        </p:nvSpPr>
        <p:spPr>
          <a:xfrm>
            <a:off x="3200400" y="117036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97">
                <a:solidFill>
                  <a:srgbClr val="FFFFFF"/>
                </a:solidFill>
                <a:latin typeface="Calibri"/>
              </a:rPr>
              <a:t>BUSINESS LOGIC LAYER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07" name="Shape 19"/>
          <p:cNvSpPr/>
          <p:nvPr/>
        </p:nvSpPr>
        <p:spPr>
          <a:xfrm>
            <a:off x="3364920" y="1691640"/>
            <a:ext cx="2322360" cy="529920"/>
          </a:xfrm>
          <a:prstGeom prst="rect">
            <a:avLst/>
          </a:prstGeom>
          <a:solidFill>
            <a:srgbClr val="0B0D18"/>
          </a:solidFill>
          <a:ln w="6350">
            <a:solidFill>
              <a:srgbClr val="6DB3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8" name="Text 20"/>
          <p:cNvSpPr/>
          <p:nvPr/>
        </p:nvSpPr>
        <p:spPr>
          <a:xfrm>
            <a:off x="3364920" y="1691640"/>
            <a:ext cx="23223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D8D4CC"/>
                </a:solidFill>
                <a:latin typeface="Calibri"/>
              </a:rPr>
              <a:t>Spring Boot Controllers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209" name="Shape 21"/>
          <p:cNvSpPr/>
          <p:nvPr/>
        </p:nvSpPr>
        <p:spPr>
          <a:xfrm>
            <a:off x="3364920" y="2377440"/>
            <a:ext cx="2322360" cy="529920"/>
          </a:xfrm>
          <a:prstGeom prst="rect">
            <a:avLst/>
          </a:prstGeom>
          <a:solidFill>
            <a:srgbClr val="0B0D18"/>
          </a:solidFill>
          <a:ln w="6350">
            <a:solidFill>
              <a:srgbClr val="6DB3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0" name="Text 22"/>
          <p:cNvSpPr/>
          <p:nvPr/>
        </p:nvSpPr>
        <p:spPr>
          <a:xfrm>
            <a:off x="3364920" y="2377440"/>
            <a:ext cx="23223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D8D4CC"/>
                </a:solidFill>
                <a:latin typeface="Calibri"/>
              </a:rPr>
              <a:t>JWT Auth &amp; Security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211" name="Shape 23"/>
          <p:cNvSpPr/>
          <p:nvPr/>
        </p:nvSpPr>
        <p:spPr>
          <a:xfrm>
            <a:off x="3364920" y="3063240"/>
            <a:ext cx="2322360" cy="529920"/>
          </a:xfrm>
          <a:prstGeom prst="rect">
            <a:avLst/>
          </a:prstGeom>
          <a:solidFill>
            <a:srgbClr val="0B0D18"/>
          </a:solidFill>
          <a:ln w="6350">
            <a:solidFill>
              <a:srgbClr val="6DB3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2" name="Text 24"/>
          <p:cNvSpPr/>
          <p:nvPr/>
        </p:nvSpPr>
        <p:spPr>
          <a:xfrm>
            <a:off x="3364920" y="3063240"/>
            <a:ext cx="23223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D8D4CC"/>
                </a:solidFill>
                <a:latin typeface="Calibri"/>
              </a:rPr>
              <a:t>Matching Algorithm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213" name="Shape 25"/>
          <p:cNvSpPr/>
          <p:nvPr/>
        </p:nvSpPr>
        <p:spPr>
          <a:xfrm>
            <a:off x="3364920" y="3749040"/>
            <a:ext cx="2322360" cy="529920"/>
          </a:xfrm>
          <a:prstGeom prst="rect">
            <a:avLst/>
          </a:prstGeom>
          <a:solidFill>
            <a:srgbClr val="0B0D18"/>
          </a:solidFill>
          <a:ln w="6350">
            <a:solidFill>
              <a:srgbClr val="6DB33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4" name="Text 26"/>
          <p:cNvSpPr/>
          <p:nvPr/>
        </p:nvSpPr>
        <p:spPr>
          <a:xfrm>
            <a:off x="3364920" y="3749040"/>
            <a:ext cx="23223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D8D4CC"/>
                </a:solidFill>
                <a:latin typeface="Calibri"/>
              </a:rPr>
              <a:t>WebSocket Handler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215" name="Shape 27"/>
          <p:cNvSpPr/>
          <p:nvPr/>
        </p:nvSpPr>
        <p:spPr>
          <a:xfrm>
            <a:off x="5852160" y="2926080"/>
            <a:ext cx="182520" cy="363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6" name="Shape 28"/>
          <p:cNvSpPr/>
          <p:nvPr/>
        </p:nvSpPr>
        <p:spPr>
          <a:xfrm>
            <a:off x="6035040" y="1170360"/>
            <a:ext cx="2651400" cy="365724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7" name="Shape 29"/>
          <p:cNvSpPr/>
          <p:nvPr/>
        </p:nvSpPr>
        <p:spPr>
          <a:xfrm>
            <a:off x="6035040" y="1170360"/>
            <a:ext cx="2651400" cy="383760"/>
          </a:xfrm>
          <a:prstGeom prst="rect">
            <a:avLst/>
          </a:prstGeom>
          <a:solidFill>
            <a:srgbClr val="E78C35"/>
          </a:solidFill>
          <a:ln w="12700">
            <a:solidFill>
              <a:srgbClr val="E78C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8" name="Text 30"/>
          <p:cNvSpPr/>
          <p:nvPr/>
        </p:nvSpPr>
        <p:spPr>
          <a:xfrm>
            <a:off x="6035040" y="117036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97">
                <a:solidFill>
                  <a:srgbClr val="FFFFFF"/>
                </a:solidFill>
                <a:latin typeface="Calibri"/>
              </a:rPr>
              <a:t>DATA ACCESS LAYER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19" name="Shape 31"/>
          <p:cNvSpPr/>
          <p:nvPr/>
        </p:nvSpPr>
        <p:spPr>
          <a:xfrm>
            <a:off x="6199560" y="1691640"/>
            <a:ext cx="2322360" cy="529920"/>
          </a:xfrm>
          <a:prstGeom prst="rect">
            <a:avLst/>
          </a:prstGeom>
          <a:solidFill>
            <a:srgbClr val="0B0D18"/>
          </a:solidFill>
          <a:ln w="6350">
            <a:solidFill>
              <a:srgbClr val="E78C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0" name="Text 32"/>
          <p:cNvSpPr/>
          <p:nvPr/>
        </p:nvSpPr>
        <p:spPr>
          <a:xfrm>
            <a:off x="6199560" y="1691640"/>
            <a:ext cx="23223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D8D4CC"/>
                </a:solidFill>
                <a:latin typeface="Calibri"/>
              </a:rPr>
              <a:t>Spring Data JPA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221" name="Shape 33"/>
          <p:cNvSpPr/>
          <p:nvPr/>
        </p:nvSpPr>
        <p:spPr>
          <a:xfrm>
            <a:off x="6199560" y="2377440"/>
            <a:ext cx="2322360" cy="529920"/>
          </a:xfrm>
          <a:prstGeom prst="rect">
            <a:avLst/>
          </a:prstGeom>
          <a:solidFill>
            <a:srgbClr val="0B0D18"/>
          </a:solidFill>
          <a:ln w="6350">
            <a:solidFill>
              <a:srgbClr val="E78C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2" name="Text 34"/>
          <p:cNvSpPr/>
          <p:nvPr/>
        </p:nvSpPr>
        <p:spPr>
          <a:xfrm>
            <a:off x="6199560" y="2377440"/>
            <a:ext cx="23223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D8D4CC"/>
                </a:solidFill>
                <a:latin typeface="Calibri"/>
              </a:rPr>
              <a:t>MySQL 8 Database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223" name="Shape 35"/>
          <p:cNvSpPr/>
          <p:nvPr/>
        </p:nvSpPr>
        <p:spPr>
          <a:xfrm>
            <a:off x="6199560" y="3063240"/>
            <a:ext cx="2322360" cy="529920"/>
          </a:xfrm>
          <a:prstGeom prst="rect">
            <a:avLst/>
          </a:prstGeom>
          <a:solidFill>
            <a:srgbClr val="0B0D18"/>
          </a:solidFill>
          <a:ln w="6350">
            <a:solidFill>
              <a:srgbClr val="E78C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4" name="Text 36"/>
          <p:cNvSpPr/>
          <p:nvPr/>
        </p:nvSpPr>
        <p:spPr>
          <a:xfrm>
            <a:off x="6199560" y="3063240"/>
            <a:ext cx="23223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D8D4CC"/>
                </a:solidFill>
                <a:latin typeface="Calibri"/>
              </a:rPr>
              <a:t>User &amp; Item Schemas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225" name="Shape 37"/>
          <p:cNvSpPr/>
          <p:nvPr/>
        </p:nvSpPr>
        <p:spPr>
          <a:xfrm>
            <a:off x="6199560" y="3749040"/>
            <a:ext cx="2322360" cy="529920"/>
          </a:xfrm>
          <a:prstGeom prst="rect">
            <a:avLst/>
          </a:prstGeom>
          <a:solidFill>
            <a:srgbClr val="0B0D18"/>
          </a:solidFill>
          <a:ln w="6350">
            <a:solidFill>
              <a:srgbClr val="E78C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6" name="Text 38"/>
          <p:cNvSpPr/>
          <p:nvPr/>
        </p:nvSpPr>
        <p:spPr>
          <a:xfrm>
            <a:off x="6199560" y="3749040"/>
            <a:ext cx="23223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D8D4CC"/>
                </a:solidFill>
                <a:latin typeface="Calibri"/>
              </a:rPr>
              <a:t>Chat Message Storage</a:t>
            </a:r>
            <a:endParaRPr lang="en-IN" sz="11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0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8" name="Shape 1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9" name="Text 2"/>
          <p:cNvSpPr/>
          <p:nvPr/>
        </p:nvSpPr>
        <p:spPr>
          <a:xfrm>
            <a:off x="457200" y="16452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50" b="1" strike="noStrike" spc="398">
                <a:solidFill>
                  <a:srgbClr val="C89B3C"/>
                </a:solidFill>
                <a:latin typeface="Calibri"/>
              </a:rPr>
              <a:t>MODULES IMPLEMENTED</a:t>
            </a:r>
            <a:endParaRPr lang="en-IN" sz="750" b="0" strike="noStrike" spc="-1">
              <a:latin typeface="Arial"/>
            </a:endParaRPr>
          </a:p>
        </p:txBody>
      </p:sp>
      <p:sp>
        <p:nvSpPr>
          <p:cNvPr id="230" name="Text 3"/>
          <p:cNvSpPr/>
          <p:nvPr/>
        </p:nvSpPr>
        <p:spPr>
          <a:xfrm>
            <a:off x="457200" y="4024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Cambria"/>
                <a:ea typeface="Cambria"/>
              </a:rPr>
              <a:t>6 Core Modules — All Completed</a:t>
            </a:r>
            <a:endParaRPr lang="en-IN" sz="2600" b="0" strike="noStrike" spc="-1">
              <a:latin typeface="Arial"/>
            </a:endParaRPr>
          </a:p>
        </p:txBody>
      </p:sp>
      <p:sp>
        <p:nvSpPr>
          <p:cNvPr id="231" name="Shape 4"/>
          <p:cNvSpPr/>
          <p:nvPr/>
        </p:nvSpPr>
        <p:spPr>
          <a:xfrm>
            <a:off x="320040" y="1170360"/>
            <a:ext cx="2697120" cy="16912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2" name="Shape 5"/>
          <p:cNvSpPr/>
          <p:nvPr/>
        </p:nvSpPr>
        <p:spPr>
          <a:xfrm>
            <a:off x="320040" y="1170360"/>
            <a:ext cx="54360" cy="1691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3" name="Text 6"/>
          <p:cNvSpPr/>
          <p:nvPr/>
        </p:nvSpPr>
        <p:spPr>
          <a:xfrm>
            <a:off x="448200" y="126180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7C3AED"/>
                </a:solidFill>
                <a:latin typeface="Cambria"/>
                <a:ea typeface="Cambria"/>
              </a:rPr>
              <a:t>01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234" name="Text 7"/>
          <p:cNvSpPr/>
          <p:nvPr/>
        </p:nvSpPr>
        <p:spPr>
          <a:xfrm>
            <a:off x="448200" y="162756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</a:rPr>
              <a:t>Authentication &amp; Role Mgmt</a:t>
            </a:r>
            <a:endParaRPr lang="en-IN" sz="1050" b="0" strike="noStrike" spc="-1">
              <a:latin typeface="Arial"/>
            </a:endParaRPr>
          </a:p>
        </p:txBody>
      </p:sp>
      <p:sp>
        <p:nvSpPr>
          <p:cNvPr id="235" name="Text 8"/>
          <p:cNvSpPr/>
          <p:nvPr/>
        </p:nvSpPr>
        <p:spPr>
          <a:xfrm>
            <a:off x="448200" y="204840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- Student &amp; Admin roles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36" name="Text 9"/>
          <p:cNvSpPr/>
          <p:nvPr/>
        </p:nvSpPr>
        <p:spPr>
          <a:xfrm>
            <a:off x="448200" y="230436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- JWT session management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37" name="Text 10"/>
          <p:cNvSpPr/>
          <p:nvPr/>
        </p:nvSpPr>
        <p:spPr>
          <a:xfrm>
            <a:off x="448200" y="256032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- Campus-verified access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38" name="Shape 11"/>
          <p:cNvSpPr/>
          <p:nvPr/>
        </p:nvSpPr>
        <p:spPr>
          <a:xfrm>
            <a:off x="3173040" y="1170360"/>
            <a:ext cx="2697120" cy="16912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9" name="Shape 12"/>
          <p:cNvSpPr/>
          <p:nvPr/>
        </p:nvSpPr>
        <p:spPr>
          <a:xfrm>
            <a:off x="3173040" y="1170360"/>
            <a:ext cx="54360" cy="1691280"/>
          </a:xfrm>
          <a:prstGeom prst="rect">
            <a:avLst/>
          </a:prstGeom>
          <a:solidFill>
            <a:srgbClr val="1A6FBE"/>
          </a:solidFill>
          <a:ln w="12700">
            <a:solidFill>
              <a:srgbClr val="1A6F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0" name="Text 13"/>
          <p:cNvSpPr/>
          <p:nvPr/>
        </p:nvSpPr>
        <p:spPr>
          <a:xfrm>
            <a:off x="3300840" y="126180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1A6FBE"/>
                </a:solidFill>
                <a:latin typeface="Cambria"/>
                <a:ea typeface="Cambria"/>
              </a:rPr>
              <a:t>02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241" name="Text 14"/>
          <p:cNvSpPr/>
          <p:nvPr/>
        </p:nvSpPr>
        <p:spPr>
          <a:xfrm>
            <a:off x="3300840" y="162756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</a:rPr>
              <a:t>Post Lost / Found Items</a:t>
            </a:r>
            <a:endParaRPr lang="en-IN" sz="1050" b="0" strike="noStrike" spc="-1">
              <a:latin typeface="Arial"/>
            </a:endParaRPr>
          </a:p>
        </p:txBody>
      </p:sp>
      <p:sp>
        <p:nvSpPr>
          <p:cNvPr id="242" name="Text 15"/>
          <p:cNvSpPr/>
          <p:nvPr/>
        </p:nvSpPr>
        <p:spPr>
          <a:xfrm>
            <a:off x="3300840" y="204840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- Structured form + image upload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43" name="Text 16"/>
          <p:cNvSpPr/>
          <p:nvPr/>
        </p:nvSpPr>
        <p:spPr>
          <a:xfrm>
            <a:off x="3300840" y="230436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- Category &amp; tag support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44" name="Text 17"/>
          <p:cNvSpPr/>
          <p:nvPr/>
        </p:nvSpPr>
        <p:spPr>
          <a:xfrm>
            <a:off x="3300840" y="256032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- Auto ID: L0001, F0001...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45" name="Shape 18"/>
          <p:cNvSpPr/>
          <p:nvPr/>
        </p:nvSpPr>
        <p:spPr>
          <a:xfrm>
            <a:off x="6026040" y="1170360"/>
            <a:ext cx="2697120" cy="16912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6" name="Shape 19"/>
          <p:cNvSpPr/>
          <p:nvPr/>
        </p:nvSpPr>
        <p:spPr>
          <a:xfrm>
            <a:off x="6026040" y="1170360"/>
            <a:ext cx="54360" cy="1691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7" name="Text 20"/>
          <p:cNvSpPr/>
          <p:nvPr/>
        </p:nvSpPr>
        <p:spPr>
          <a:xfrm>
            <a:off x="6153840" y="126180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0891B2"/>
                </a:solidFill>
                <a:latin typeface="Cambria"/>
                <a:ea typeface="Cambria"/>
              </a:rPr>
              <a:t>03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248" name="Text 21"/>
          <p:cNvSpPr/>
          <p:nvPr/>
        </p:nvSpPr>
        <p:spPr>
          <a:xfrm>
            <a:off x="6153840" y="162756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</a:rPr>
              <a:t>Auto-Matching &amp; Search</a:t>
            </a:r>
            <a:endParaRPr lang="en-IN" sz="1050" b="0" strike="noStrike" spc="-1">
              <a:latin typeface="Arial"/>
            </a:endParaRPr>
          </a:p>
        </p:txBody>
      </p:sp>
      <p:sp>
        <p:nvSpPr>
          <p:cNvPr id="249" name="Text 22"/>
          <p:cNvSpPr/>
          <p:nvPr/>
        </p:nvSpPr>
        <p:spPr>
          <a:xfrm>
            <a:off x="6153840" y="204840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- Keyword + fuzzy matching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50" name="Text 23"/>
          <p:cNvSpPr/>
          <p:nvPr/>
        </p:nvSpPr>
        <p:spPr>
          <a:xfrm>
            <a:off x="6153840" y="230436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- Location-based suggestions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51" name="Text 24"/>
          <p:cNvSpPr/>
          <p:nvPr/>
        </p:nvSpPr>
        <p:spPr>
          <a:xfrm>
            <a:off x="6153840" y="256032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- Potential Matches panel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52" name="Shape 25"/>
          <p:cNvSpPr/>
          <p:nvPr/>
        </p:nvSpPr>
        <p:spPr>
          <a:xfrm>
            <a:off x="320040" y="3054240"/>
            <a:ext cx="2697120" cy="16912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3" name="Shape 26"/>
          <p:cNvSpPr/>
          <p:nvPr/>
        </p:nvSpPr>
        <p:spPr>
          <a:xfrm>
            <a:off x="320040" y="3054240"/>
            <a:ext cx="54360" cy="16912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4" name="Text 27"/>
          <p:cNvSpPr/>
          <p:nvPr/>
        </p:nvSpPr>
        <p:spPr>
          <a:xfrm>
            <a:off x="448200" y="314568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C89B3C"/>
                </a:solidFill>
                <a:latin typeface="Cambria"/>
                <a:ea typeface="Cambria"/>
              </a:rPr>
              <a:t>04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255" name="Shape 28"/>
          <p:cNvSpPr/>
          <p:nvPr/>
        </p:nvSpPr>
        <p:spPr>
          <a:xfrm>
            <a:off x="1947600" y="3145680"/>
            <a:ext cx="914040" cy="237240"/>
          </a:xfrm>
          <a:prstGeom prst="roundRect">
            <a:avLst>
              <a:gd name="adj" fmla="val 23077"/>
            </a:avLst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6" name="Text 29"/>
          <p:cNvSpPr/>
          <p:nvPr/>
        </p:nvSpPr>
        <p:spPr>
          <a:xfrm>
            <a:off x="1947600" y="3145680"/>
            <a:ext cx="9140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</a:rPr>
              <a:t>DONE</a:t>
            </a:r>
            <a:endParaRPr lang="en-IN" sz="800" b="0" strike="noStrike" spc="-1">
              <a:latin typeface="Arial"/>
            </a:endParaRPr>
          </a:p>
        </p:txBody>
      </p:sp>
      <p:sp>
        <p:nvSpPr>
          <p:cNvPr id="257" name="Text 30"/>
          <p:cNvSpPr/>
          <p:nvPr/>
        </p:nvSpPr>
        <p:spPr>
          <a:xfrm>
            <a:off x="448200" y="351144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</a:rPr>
              <a:t>Chat / Contact System  [DONE]</a:t>
            </a:r>
            <a:endParaRPr lang="en-IN" sz="1050" b="0" strike="noStrike" spc="-1">
              <a:latin typeface="Arial"/>
            </a:endParaRPr>
          </a:p>
        </p:txBody>
      </p:sp>
      <p:sp>
        <p:nvSpPr>
          <p:cNvPr id="258" name="Text 31"/>
          <p:cNvSpPr/>
          <p:nvPr/>
        </p:nvSpPr>
        <p:spPr>
          <a:xfrm>
            <a:off x="448200" y="393192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- WebSocket STOMP live chat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59" name="Text 32"/>
          <p:cNvSpPr/>
          <p:nvPr/>
        </p:nvSpPr>
        <p:spPr>
          <a:xfrm>
            <a:off x="448200" y="418788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- Online users sidebar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60" name="Text 33"/>
          <p:cNvSpPr/>
          <p:nvPr/>
        </p:nvSpPr>
        <p:spPr>
          <a:xfrm>
            <a:off x="448200" y="444384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- Real-time messaging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61" name="Shape 34"/>
          <p:cNvSpPr/>
          <p:nvPr/>
        </p:nvSpPr>
        <p:spPr>
          <a:xfrm>
            <a:off x="3173040" y="3054240"/>
            <a:ext cx="2697120" cy="16912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2" name="Shape 35"/>
          <p:cNvSpPr/>
          <p:nvPr/>
        </p:nvSpPr>
        <p:spPr>
          <a:xfrm>
            <a:off x="3173040" y="3054240"/>
            <a:ext cx="54360" cy="1691280"/>
          </a:xfrm>
          <a:prstGeom prst="rect">
            <a:avLst/>
          </a:prstGeom>
          <a:solidFill>
            <a:srgbClr val="E78C35"/>
          </a:solidFill>
          <a:ln w="12700">
            <a:solidFill>
              <a:srgbClr val="E78C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3" name="Text 36"/>
          <p:cNvSpPr/>
          <p:nvPr/>
        </p:nvSpPr>
        <p:spPr>
          <a:xfrm>
            <a:off x="3300840" y="314568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E78C35"/>
                </a:solidFill>
                <a:latin typeface="Cambria"/>
                <a:ea typeface="Cambria"/>
              </a:rPr>
              <a:t>05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264" name="Text 37"/>
          <p:cNvSpPr/>
          <p:nvPr/>
        </p:nvSpPr>
        <p:spPr>
          <a:xfrm>
            <a:off x="3300840" y="351144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</a:rPr>
              <a:t>Admin Dashboard</a:t>
            </a:r>
            <a:endParaRPr lang="en-IN" sz="1050" b="0" strike="noStrike" spc="-1">
              <a:latin typeface="Arial"/>
            </a:endParaRPr>
          </a:p>
        </p:txBody>
      </p:sp>
      <p:sp>
        <p:nvSpPr>
          <p:cNvPr id="265" name="Text 38"/>
          <p:cNvSpPr/>
          <p:nvPr/>
        </p:nvSpPr>
        <p:spPr>
          <a:xfrm>
            <a:off x="3300840" y="393192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- View all posts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66" name="Text 39"/>
          <p:cNvSpPr/>
          <p:nvPr/>
        </p:nvSpPr>
        <p:spPr>
          <a:xfrm>
            <a:off x="3300840" y="418788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- View all Students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67" name="Text 40"/>
          <p:cNvSpPr/>
          <p:nvPr/>
        </p:nvSpPr>
        <p:spPr>
          <a:xfrm>
            <a:off x="3300840" y="444384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- View Matched Items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68" name="Shape 41"/>
          <p:cNvSpPr/>
          <p:nvPr/>
        </p:nvSpPr>
        <p:spPr>
          <a:xfrm>
            <a:off x="6026040" y="3054240"/>
            <a:ext cx="2697120" cy="16912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9" name="Shape 42"/>
          <p:cNvSpPr/>
          <p:nvPr/>
        </p:nvSpPr>
        <p:spPr>
          <a:xfrm>
            <a:off x="6026040" y="3054240"/>
            <a:ext cx="54360" cy="169128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0" name="Text 43"/>
          <p:cNvSpPr/>
          <p:nvPr/>
        </p:nvSpPr>
        <p:spPr>
          <a:xfrm>
            <a:off x="6153840" y="314568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4CAF7D"/>
                </a:solidFill>
                <a:latin typeface="Cambria"/>
                <a:ea typeface="Cambria"/>
              </a:rPr>
              <a:t>06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271" name="Text 44"/>
          <p:cNvSpPr/>
          <p:nvPr/>
        </p:nvSpPr>
        <p:spPr>
          <a:xfrm>
            <a:off x="6153840" y="351144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</a:rPr>
              <a:t>Reporting &amp; Analytics</a:t>
            </a:r>
            <a:endParaRPr lang="en-IN" sz="1050" b="0" strike="noStrike" spc="-1">
              <a:latin typeface="Arial"/>
            </a:endParaRPr>
          </a:p>
        </p:txBody>
      </p:sp>
      <p:sp>
        <p:nvSpPr>
          <p:cNvPr id="272" name="Text 45"/>
          <p:cNvSpPr/>
          <p:nvPr/>
        </p:nvSpPr>
        <p:spPr>
          <a:xfrm>
            <a:off x="6153840" y="393192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- Items reported/matched/recovered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73" name="Text 46"/>
          <p:cNvSpPr/>
          <p:nvPr/>
        </p:nvSpPr>
        <p:spPr>
          <a:xfrm>
            <a:off x="6153840" y="418788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- Filter by date, category, location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74" name="Text 47"/>
          <p:cNvSpPr/>
          <p:nvPr/>
        </p:nvSpPr>
        <p:spPr>
          <a:xfrm>
            <a:off x="6153840" y="444384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- User engagement metrics</a:t>
            </a:r>
            <a:endParaRPr lang="en-IN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76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7" name="Shape 1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8" name="Text 2"/>
          <p:cNvSpPr/>
          <p:nvPr/>
        </p:nvSpPr>
        <p:spPr>
          <a:xfrm>
            <a:off x="365760" y="109800"/>
            <a:ext cx="54860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50" b="1" strike="noStrike" spc="398">
                <a:solidFill>
                  <a:srgbClr val="C89B3C"/>
                </a:solidFill>
                <a:latin typeface="Calibri"/>
              </a:rPr>
              <a:t>APP SCREENSHOT  —  SCREEN 1 OF 8</a:t>
            </a:r>
            <a:endParaRPr lang="en-IN" sz="750" b="0" strike="noStrike" spc="-1">
              <a:latin typeface="Arial"/>
            </a:endParaRPr>
          </a:p>
        </p:txBody>
      </p:sp>
      <p:sp>
        <p:nvSpPr>
          <p:cNvPr id="279" name="Text 3"/>
          <p:cNvSpPr/>
          <p:nvPr/>
        </p:nvSpPr>
        <p:spPr>
          <a:xfrm>
            <a:off x="365760" y="292680"/>
            <a:ext cx="6400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Cambria"/>
                <a:ea typeface="Cambria"/>
              </a:rPr>
              <a:t>Landing Page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280" name="Shape 4"/>
          <p:cNvSpPr/>
          <p:nvPr/>
        </p:nvSpPr>
        <p:spPr>
          <a:xfrm>
            <a:off x="0" y="4754880"/>
            <a:ext cx="9143640" cy="38844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1" name="Text 5"/>
          <p:cNvSpPr/>
          <p:nvPr/>
        </p:nvSpPr>
        <p:spPr>
          <a:xfrm>
            <a:off x="274320" y="4773240"/>
            <a:ext cx="8595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E8B84B"/>
                </a:solidFill>
                <a:latin typeface="Calibri"/>
              </a:rPr>
              <a:t>Hero: "Find What's Lost, Return What's Found"  |  LOGIN TO PORTAL + CREATE ACCOUNT buttons  |  Report • Submit • Match • Secure feature bar  |  LIVE SYSTEM status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282" name="Shape 6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0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4" name="Shape 1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5" name="Text 2"/>
          <p:cNvSpPr/>
          <p:nvPr/>
        </p:nvSpPr>
        <p:spPr>
          <a:xfrm>
            <a:off x="365760" y="10980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50" b="1" strike="noStrike" spc="398">
                <a:solidFill>
                  <a:srgbClr val="C89B3C"/>
                </a:solidFill>
                <a:latin typeface="Calibri"/>
              </a:rPr>
              <a:t>APP SCREENSHOTS  —  SCREENS 2 &amp; 3 OF 8</a:t>
            </a:r>
            <a:endParaRPr lang="en-IN" sz="750" b="0" strike="noStrike" spc="-1">
              <a:latin typeface="Arial"/>
            </a:endParaRPr>
          </a:p>
        </p:txBody>
      </p:sp>
      <p:sp>
        <p:nvSpPr>
          <p:cNvPr id="286" name="Text 3"/>
          <p:cNvSpPr/>
          <p:nvPr/>
        </p:nvSpPr>
        <p:spPr>
          <a:xfrm>
            <a:off x="365760" y="2926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strike="noStrike" spc="-1">
                <a:solidFill>
                  <a:srgbClr val="FFFFFF"/>
                </a:solidFill>
                <a:latin typeface="Cambria"/>
                <a:ea typeface="Cambria"/>
              </a:rPr>
              <a:t>Login &amp; Registration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287" name="Shape 4"/>
          <p:cNvSpPr/>
          <p:nvPr/>
        </p:nvSpPr>
        <p:spPr>
          <a:xfrm>
            <a:off x="274320" y="768240"/>
            <a:ext cx="4205880" cy="4114440"/>
          </a:xfrm>
          <a:prstGeom prst="rect">
            <a:avLst/>
          </a:prstGeom>
          <a:solidFill>
            <a:srgbClr val="000000"/>
          </a:solidFill>
          <a:ln w="8890">
            <a:solidFill>
              <a:srgbClr val="C89B3C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88" name="Image 0" descr="preencoded.png"/>
          <p:cNvPicPr/>
          <p:nvPr/>
        </p:nvPicPr>
        <p:blipFill>
          <a:blip r:embed="rId3"/>
          <a:stretch/>
        </p:blipFill>
        <p:spPr>
          <a:xfrm>
            <a:off x="274320" y="768240"/>
            <a:ext cx="4205880" cy="4114440"/>
          </a:xfrm>
          <a:prstGeom prst="rect">
            <a:avLst/>
          </a:prstGeom>
          <a:ln w="0">
            <a:noFill/>
          </a:ln>
        </p:spPr>
      </p:pic>
      <p:sp>
        <p:nvSpPr>
          <p:cNvPr id="289" name="Shape 5"/>
          <p:cNvSpPr/>
          <p:nvPr/>
        </p:nvSpPr>
        <p:spPr>
          <a:xfrm>
            <a:off x="274320" y="4727520"/>
            <a:ext cx="4205880" cy="301320"/>
          </a:xfrm>
          <a:prstGeom prst="rect">
            <a:avLst/>
          </a:prstGeom>
          <a:solidFill>
            <a:srgbClr val="1A2240"/>
          </a:solidFill>
          <a:ln w="508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0" name="Text 6"/>
          <p:cNvSpPr/>
          <p:nvPr/>
        </p:nvSpPr>
        <p:spPr>
          <a:xfrm>
            <a:off x="274320" y="4727520"/>
            <a:ext cx="42058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E8B84B"/>
                </a:solidFill>
                <a:latin typeface="Calibri"/>
              </a:rPr>
              <a:t>Login — "Welcome Back"  |  Username + Password + SIGN IN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91" name="Shape 7"/>
          <p:cNvSpPr/>
          <p:nvPr/>
        </p:nvSpPr>
        <p:spPr>
          <a:xfrm>
            <a:off x="4663440" y="768240"/>
            <a:ext cx="4205880" cy="4114440"/>
          </a:xfrm>
          <a:prstGeom prst="rect">
            <a:avLst/>
          </a:prstGeom>
          <a:solidFill>
            <a:srgbClr val="000000"/>
          </a:solidFill>
          <a:ln w="8890">
            <a:solidFill>
              <a:srgbClr val="C89B3C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92" name="Image 1" descr="preencoded.png"/>
          <p:cNvPicPr/>
          <p:nvPr/>
        </p:nvPicPr>
        <p:blipFill>
          <a:blip r:embed="rId4"/>
          <a:stretch/>
        </p:blipFill>
        <p:spPr>
          <a:xfrm>
            <a:off x="4663440" y="768240"/>
            <a:ext cx="4205880" cy="4114440"/>
          </a:xfrm>
          <a:prstGeom prst="rect">
            <a:avLst/>
          </a:prstGeom>
          <a:ln w="0">
            <a:noFill/>
          </a:ln>
        </p:spPr>
      </p:pic>
      <p:sp>
        <p:nvSpPr>
          <p:cNvPr id="293" name="Shape 8"/>
          <p:cNvSpPr/>
          <p:nvPr/>
        </p:nvSpPr>
        <p:spPr>
          <a:xfrm>
            <a:off x="4663440" y="4727520"/>
            <a:ext cx="4205880" cy="301320"/>
          </a:xfrm>
          <a:prstGeom prst="rect">
            <a:avLst/>
          </a:prstGeom>
          <a:solidFill>
            <a:srgbClr val="1A2240"/>
          </a:solidFill>
          <a:ln w="508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4" name="Text 9"/>
          <p:cNvSpPr/>
          <p:nvPr/>
        </p:nvSpPr>
        <p:spPr>
          <a:xfrm>
            <a:off x="4663440" y="4727520"/>
            <a:ext cx="42058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E8B84B"/>
                </a:solidFill>
                <a:latin typeface="Calibri"/>
              </a:rPr>
              <a:t>Register — Username, Name, Email, Role, Password + Confirm</a:t>
            </a:r>
            <a:endParaRPr lang="en-IN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96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7" name="Shape 1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8" name="Text 2"/>
          <p:cNvSpPr/>
          <p:nvPr/>
        </p:nvSpPr>
        <p:spPr>
          <a:xfrm>
            <a:off x="365760" y="109800"/>
            <a:ext cx="54860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50" b="1" strike="noStrike" spc="398">
                <a:solidFill>
                  <a:srgbClr val="C89B3C"/>
                </a:solidFill>
                <a:latin typeface="Calibri"/>
              </a:rPr>
              <a:t>APP SCREENSHOT  —  SCREEN 4 OF 8</a:t>
            </a:r>
            <a:endParaRPr lang="en-IN" sz="750" b="0" strike="noStrike" spc="-1">
              <a:latin typeface="Arial"/>
            </a:endParaRPr>
          </a:p>
        </p:txBody>
      </p:sp>
      <p:sp>
        <p:nvSpPr>
          <p:cNvPr id="299" name="Text 3"/>
          <p:cNvSpPr/>
          <p:nvPr/>
        </p:nvSpPr>
        <p:spPr>
          <a:xfrm>
            <a:off x="365760" y="292680"/>
            <a:ext cx="6400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Cambria"/>
                <a:ea typeface="Cambria"/>
              </a:rPr>
              <a:t>Student Dashboard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300" name="Shape 4"/>
          <p:cNvSpPr/>
          <p:nvPr/>
        </p:nvSpPr>
        <p:spPr>
          <a:xfrm>
            <a:off x="0" y="4754880"/>
            <a:ext cx="9143640" cy="38844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1" name="Text 5"/>
          <p:cNvSpPr/>
          <p:nvPr/>
        </p:nvSpPr>
        <p:spPr>
          <a:xfrm>
            <a:off x="274320" y="4773240"/>
            <a:ext cx="8595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E8B84B"/>
                </a:solidFill>
                <a:latin typeface="Calibri"/>
              </a:rPr>
              <a:t>Nav: PERSONAL | LOST ITEM | FOUND ITEM | CHATTING | LOGOUT  |  Quick Actions: Report Lost • Browse Lost • Submit Found • Browse Found • Open Chat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302" name="Shape 6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0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4" name="Shape 1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5" name="Text 2"/>
          <p:cNvSpPr/>
          <p:nvPr/>
        </p:nvSpPr>
        <p:spPr>
          <a:xfrm>
            <a:off x="365760" y="10980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50" b="1" strike="noStrike" spc="398">
                <a:solidFill>
                  <a:srgbClr val="C89B3C"/>
                </a:solidFill>
                <a:latin typeface="Calibri"/>
              </a:rPr>
              <a:t>APP SCREENSHOTS  —  SCREENS 5 &amp; 6 OF 8</a:t>
            </a:r>
            <a:endParaRPr lang="en-IN" sz="750" b="0" strike="noStrike" spc="-1">
              <a:latin typeface="Arial"/>
            </a:endParaRPr>
          </a:p>
        </p:txBody>
      </p:sp>
      <p:sp>
        <p:nvSpPr>
          <p:cNvPr id="306" name="Text 3"/>
          <p:cNvSpPr/>
          <p:nvPr/>
        </p:nvSpPr>
        <p:spPr>
          <a:xfrm>
            <a:off x="365760" y="2926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strike="noStrike" spc="-1">
                <a:solidFill>
                  <a:srgbClr val="FFFFFF"/>
                </a:solidFill>
                <a:latin typeface="Cambria"/>
                <a:ea typeface="Cambria"/>
              </a:rPr>
              <a:t>My Profile &amp; Report Lost Item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307" name="Shape 4"/>
          <p:cNvSpPr/>
          <p:nvPr/>
        </p:nvSpPr>
        <p:spPr>
          <a:xfrm>
            <a:off x="274320" y="768240"/>
            <a:ext cx="4205880" cy="4114440"/>
          </a:xfrm>
          <a:prstGeom prst="rect">
            <a:avLst/>
          </a:prstGeom>
          <a:solidFill>
            <a:srgbClr val="000000"/>
          </a:solidFill>
          <a:ln w="8890">
            <a:solidFill>
              <a:srgbClr val="C89B3C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08" name="Image 0" descr="preencoded.png"/>
          <p:cNvPicPr/>
          <p:nvPr/>
        </p:nvPicPr>
        <p:blipFill>
          <a:blip r:embed="rId3"/>
          <a:stretch/>
        </p:blipFill>
        <p:spPr>
          <a:xfrm>
            <a:off x="274320" y="768240"/>
            <a:ext cx="4205880" cy="4114440"/>
          </a:xfrm>
          <a:prstGeom prst="rect">
            <a:avLst/>
          </a:prstGeom>
          <a:ln w="0">
            <a:noFill/>
          </a:ln>
        </p:spPr>
      </p:pic>
      <p:sp>
        <p:nvSpPr>
          <p:cNvPr id="309" name="Shape 5"/>
          <p:cNvSpPr/>
          <p:nvPr/>
        </p:nvSpPr>
        <p:spPr>
          <a:xfrm>
            <a:off x="274320" y="4727520"/>
            <a:ext cx="4205880" cy="301320"/>
          </a:xfrm>
          <a:prstGeom prst="rect">
            <a:avLst/>
          </a:prstGeom>
          <a:solidFill>
            <a:srgbClr val="1A2240"/>
          </a:solidFill>
          <a:ln w="508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0" name="Text 6"/>
          <p:cNvSpPr/>
          <p:nvPr/>
        </p:nvSpPr>
        <p:spPr>
          <a:xfrm>
            <a:off x="274320" y="4727520"/>
            <a:ext cx="42058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E8B84B"/>
                </a:solidFill>
                <a:latin typeface="Calibri"/>
              </a:rPr>
              <a:t>Profile: Username 19869 | Name Sivajothi | Email | Role: Student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311" name="Shape 7"/>
          <p:cNvSpPr/>
          <p:nvPr/>
        </p:nvSpPr>
        <p:spPr>
          <a:xfrm>
            <a:off x="4663440" y="768240"/>
            <a:ext cx="4205880" cy="4114440"/>
          </a:xfrm>
          <a:prstGeom prst="rect">
            <a:avLst/>
          </a:prstGeom>
          <a:solidFill>
            <a:srgbClr val="000000"/>
          </a:solidFill>
          <a:ln w="8890">
            <a:solidFill>
              <a:srgbClr val="C89B3C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12" name="Image 1" descr="preencoded.png"/>
          <p:cNvPicPr/>
          <p:nvPr/>
        </p:nvPicPr>
        <p:blipFill>
          <a:blip r:embed="rId4"/>
          <a:stretch/>
        </p:blipFill>
        <p:spPr>
          <a:xfrm>
            <a:off x="4663440" y="768240"/>
            <a:ext cx="4205880" cy="4114440"/>
          </a:xfrm>
          <a:prstGeom prst="rect">
            <a:avLst/>
          </a:prstGeom>
          <a:ln w="0">
            <a:noFill/>
          </a:ln>
        </p:spPr>
      </p:pic>
      <p:sp>
        <p:nvSpPr>
          <p:cNvPr id="313" name="Shape 8"/>
          <p:cNvSpPr/>
          <p:nvPr/>
        </p:nvSpPr>
        <p:spPr>
          <a:xfrm>
            <a:off x="4663440" y="4727520"/>
            <a:ext cx="4205880" cy="301320"/>
          </a:xfrm>
          <a:prstGeom prst="rect">
            <a:avLst/>
          </a:prstGeom>
          <a:solidFill>
            <a:srgbClr val="1A2240"/>
          </a:solidFill>
          <a:ln w="508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4" name="Text 9"/>
          <p:cNvSpPr/>
          <p:nvPr/>
        </p:nvSpPr>
        <p:spPr>
          <a:xfrm>
            <a:off x="4663440" y="4727520"/>
            <a:ext cx="42058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E8B84B"/>
                </a:solidFill>
                <a:latin typeface="Calibri"/>
              </a:rPr>
              <a:t>Report Lost: Item Name, Brand, Category, Date, Location, Description, Image Upload</a:t>
            </a:r>
            <a:endParaRPr lang="en-IN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16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7" name="Shape 1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8" name="Text 2"/>
          <p:cNvSpPr/>
          <p:nvPr/>
        </p:nvSpPr>
        <p:spPr>
          <a:xfrm>
            <a:off x="365760" y="109800"/>
            <a:ext cx="54860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50" b="1" strike="noStrike" spc="398">
                <a:solidFill>
                  <a:srgbClr val="C89B3C"/>
                </a:solidFill>
                <a:latin typeface="Calibri"/>
              </a:rPr>
              <a:t>APP SCREENSHOT  —  SCREEN 7 OF 8</a:t>
            </a:r>
            <a:endParaRPr lang="en-IN" sz="750" b="0" strike="noStrike" spc="-1">
              <a:latin typeface="Arial"/>
            </a:endParaRPr>
          </a:p>
        </p:txBody>
      </p:sp>
      <p:sp>
        <p:nvSpPr>
          <p:cNvPr id="319" name="Text 3"/>
          <p:cNvSpPr/>
          <p:nvPr/>
        </p:nvSpPr>
        <p:spPr>
          <a:xfrm>
            <a:off x="365760" y="292680"/>
            <a:ext cx="6400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Cambria"/>
                <a:ea typeface="Cambria"/>
              </a:rPr>
              <a:t>Browse Lost Items &amp; Matching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320" name="Shape 4"/>
          <p:cNvSpPr/>
          <p:nvPr/>
        </p:nvSpPr>
        <p:spPr>
          <a:xfrm>
            <a:off x="0" y="4754880"/>
            <a:ext cx="9143640" cy="38844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1" name="Text 5"/>
          <p:cNvSpPr/>
          <p:nvPr/>
        </p:nvSpPr>
        <p:spPr>
          <a:xfrm>
            <a:off x="274320" y="4773240"/>
            <a:ext cx="8595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E8B84B"/>
                </a:solidFill>
                <a:latin typeface="Calibri"/>
              </a:rPr>
              <a:t>Stats: 2 Total Reported | 2 Still Lost | 0 Recovered | 0 Potential Matches  |  Items: L0001 pen/Apsara • L0002 Laptop/7pure  |  Potential Matches search panel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322" name="Shape 6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24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5" name="Shape 1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6" name="Shape 2"/>
          <p:cNvSpPr/>
          <p:nvPr/>
        </p:nvSpPr>
        <p:spPr>
          <a:xfrm>
            <a:off x="6858000" y="128160"/>
            <a:ext cx="2011320" cy="292320"/>
          </a:xfrm>
          <a:prstGeom prst="roundRect">
            <a:avLst>
              <a:gd name="adj" fmla="val 21875"/>
            </a:avLst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Text 3"/>
          <p:cNvSpPr/>
          <p:nvPr/>
        </p:nvSpPr>
        <p:spPr>
          <a:xfrm>
            <a:off x="6858000" y="12816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50" b="1" strike="noStrike" spc="-1">
                <a:solidFill>
                  <a:srgbClr val="FFFFFF"/>
                </a:solidFill>
                <a:latin typeface="Calibri"/>
              </a:rPr>
              <a:t>MODULE COMPLETED</a:t>
            </a:r>
            <a:endParaRPr lang="en-IN" sz="850" b="0" strike="noStrike" spc="-1">
              <a:latin typeface="Arial"/>
            </a:endParaRPr>
          </a:p>
        </p:txBody>
      </p:sp>
      <p:sp>
        <p:nvSpPr>
          <p:cNvPr id="328" name="Text 4"/>
          <p:cNvSpPr/>
          <p:nvPr/>
        </p:nvSpPr>
        <p:spPr>
          <a:xfrm>
            <a:off x="365760" y="109800"/>
            <a:ext cx="6217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50" b="1" strike="noStrike" spc="398">
                <a:solidFill>
                  <a:srgbClr val="C89B3C"/>
                </a:solidFill>
                <a:latin typeface="Calibri"/>
              </a:rPr>
              <a:t>APP SCREENSHOT  —  SCREEN 8 OF 8  |  CHAT MODULE</a:t>
            </a:r>
            <a:endParaRPr lang="en-IN" sz="750" b="0" strike="noStrike" spc="-1">
              <a:latin typeface="Arial"/>
            </a:endParaRPr>
          </a:p>
        </p:txBody>
      </p:sp>
      <p:sp>
        <p:nvSpPr>
          <p:cNvPr id="329" name="Text 5"/>
          <p:cNvSpPr/>
          <p:nvPr/>
        </p:nvSpPr>
        <p:spPr>
          <a:xfrm>
            <a:off x="365760" y="292680"/>
            <a:ext cx="6217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Cambria"/>
                <a:ea typeface="Cambria"/>
              </a:rPr>
              <a:t>Live Chat — WebSocket Implementation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330" name="Shape 6"/>
          <p:cNvSpPr/>
          <p:nvPr/>
        </p:nvSpPr>
        <p:spPr>
          <a:xfrm>
            <a:off x="0" y="4754880"/>
            <a:ext cx="9143640" cy="38844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1" name="Text 7"/>
          <p:cNvSpPr/>
          <p:nvPr/>
        </p:nvSpPr>
        <p:spPr>
          <a:xfrm>
            <a:off x="274320" y="4773240"/>
            <a:ext cx="85950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E8B84B"/>
                </a:solidFill>
                <a:latin typeface="Calibri"/>
              </a:rPr>
              <a:t>CONNECTED status  |  Online Users panel: 1 online (19869 — You)  |  Chat area: "No messages yet..."  |  Message input: Enter to send  |  WebSocket STOMP protocol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332" name="Shape 8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0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4" name="Shape 1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5" name="Text 2"/>
          <p:cNvSpPr/>
          <p:nvPr/>
        </p:nvSpPr>
        <p:spPr>
          <a:xfrm>
            <a:off x="457200" y="16452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50" b="1" strike="noStrike" spc="398">
                <a:solidFill>
                  <a:srgbClr val="C89B3C"/>
                </a:solidFill>
                <a:latin typeface="Calibri"/>
              </a:rPr>
              <a:t>MILESTONES &amp; TIMELINE</a:t>
            </a:r>
            <a:endParaRPr lang="en-IN" sz="750" b="0" strike="noStrike" spc="-1">
              <a:latin typeface="Arial"/>
            </a:endParaRPr>
          </a:p>
        </p:txBody>
      </p:sp>
      <p:sp>
        <p:nvSpPr>
          <p:cNvPr id="336" name="Text 3"/>
          <p:cNvSpPr/>
          <p:nvPr/>
        </p:nvSpPr>
        <p:spPr>
          <a:xfrm>
            <a:off x="457200" y="4024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Cambria"/>
                <a:ea typeface="Cambria"/>
              </a:rPr>
              <a:t>8-Week Development Journey</a:t>
            </a:r>
            <a:endParaRPr lang="en-IN" sz="2600" b="0" strike="noStrike" spc="-1">
              <a:latin typeface="Arial"/>
            </a:endParaRPr>
          </a:p>
        </p:txBody>
      </p:sp>
      <p:sp>
        <p:nvSpPr>
          <p:cNvPr id="337" name="Shape 4"/>
          <p:cNvSpPr/>
          <p:nvPr/>
        </p:nvSpPr>
        <p:spPr>
          <a:xfrm>
            <a:off x="822960" y="2834640"/>
            <a:ext cx="7589160" cy="453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8" name="Shape 5"/>
          <p:cNvSpPr/>
          <p:nvPr/>
        </p:nvSpPr>
        <p:spPr>
          <a:xfrm>
            <a:off x="1188720" y="2706480"/>
            <a:ext cx="255600" cy="2556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9" name="Shape 6"/>
          <p:cNvSpPr/>
          <p:nvPr/>
        </p:nvSpPr>
        <p:spPr>
          <a:xfrm>
            <a:off x="685800" y="1298520"/>
            <a:ext cx="1279800" cy="132552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0" name="Shape 7"/>
          <p:cNvSpPr/>
          <p:nvPr/>
        </p:nvSpPr>
        <p:spPr>
          <a:xfrm>
            <a:off x="685800" y="1298520"/>
            <a:ext cx="1279800" cy="543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1" name="Text 8"/>
          <p:cNvSpPr/>
          <p:nvPr/>
        </p:nvSpPr>
        <p:spPr>
          <a:xfrm>
            <a:off x="685800" y="138996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C89B3C"/>
                </a:solidFill>
                <a:latin typeface="Calibri"/>
              </a:rPr>
              <a:t>W1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342" name="Text 9"/>
          <p:cNvSpPr/>
          <p:nvPr/>
        </p:nvSpPr>
        <p:spPr>
          <a:xfrm>
            <a:off x="685800" y="162756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</a:rPr>
              <a:t>Auth</a:t>
            </a:r>
            <a:endParaRPr lang="en-IN" sz="1250" b="0" strike="noStrike" spc="-1">
              <a:latin typeface="Arial"/>
            </a:endParaRPr>
          </a:p>
        </p:txBody>
      </p:sp>
      <p:sp>
        <p:nvSpPr>
          <p:cNvPr id="343" name="Text 10"/>
          <p:cNvSpPr/>
          <p:nvPr/>
        </p:nvSpPr>
        <p:spPr>
          <a:xfrm>
            <a:off x="685800" y="1920240"/>
            <a:ext cx="12798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strike="noStrike" spc="-1">
                <a:solidFill>
                  <a:srgbClr val="8A90A8"/>
                </a:solidFill>
                <a:latin typeface="Calibri"/>
              </a:rPr>
              <a:t>Login, register, JWT, roles</a:t>
            </a:r>
            <a:endParaRPr lang="en-IN" sz="800" b="0" strike="noStrike" spc="-1">
              <a:latin typeface="Arial"/>
            </a:endParaRPr>
          </a:p>
        </p:txBody>
      </p:sp>
      <p:sp>
        <p:nvSpPr>
          <p:cNvPr id="344" name="Shape 11"/>
          <p:cNvSpPr/>
          <p:nvPr/>
        </p:nvSpPr>
        <p:spPr>
          <a:xfrm>
            <a:off x="1298520" y="2624400"/>
            <a:ext cx="36360" cy="910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5" name="Shape 12"/>
          <p:cNvSpPr/>
          <p:nvPr/>
        </p:nvSpPr>
        <p:spPr>
          <a:xfrm>
            <a:off x="2514600" y="2706480"/>
            <a:ext cx="255600" cy="2556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6" name="Shape 13"/>
          <p:cNvSpPr/>
          <p:nvPr/>
        </p:nvSpPr>
        <p:spPr>
          <a:xfrm>
            <a:off x="2011680" y="3063240"/>
            <a:ext cx="1279800" cy="132552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7" name="Shape 14"/>
          <p:cNvSpPr/>
          <p:nvPr/>
        </p:nvSpPr>
        <p:spPr>
          <a:xfrm>
            <a:off x="2011680" y="3063240"/>
            <a:ext cx="1279800" cy="543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8" name="Text 15"/>
          <p:cNvSpPr/>
          <p:nvPr/>
        </p:nvSpPr>
        <p:spPr>
          <a:xfrm>
            <a:off x="2011680" y="315468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C89B3C"/>
                </a:solidFill>
                <a:latin typeface="Calibri"/>
              </a:rPr>
              <a:t>W2-3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349" name="Text 16"/>
          <p:cNvSpPr/>
          <p:nvPr/>
        </p:nvSpPr>
        <p:spPr>
          <a:xfrm>
            <a:off x="2011680" y="339228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</a:rPr>
              <a:t>Posts</a:t>
            </a:r>
            <a:endParaRPr lang="en-IN" sz="1250" b="0" strike="noStrike" spc="-1">
              <a:latin typeface="Arial"/>
            </a:endParaRPr>
          </a:p>
        </p:txBody>
      </p:sp>
      <p:sp>
        <p:nvSpPr>
          <p:cNvPr id="350" name="Text 17"/>
          <p:cNvSpPr/>
          <p:nvPr/>
        </p:nvSpPr>
        <p:spPr>
          <a:xfrm>
            <a:off x="2011680" y="3684960"/>
            <a:ext cx="12798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strike="noStrike" spc="-1">
                <a:solidFill>
                  <a:srgbClr val="8A90A8"/>
                </a:solidFill>
                <a:latin typeface="Calibri"/>
              </a:rPr>
              <a:t>Lost/Found forms, categories</a:t>
            </a:r>
            <a:endParaRPr lang="en-IN" sz="800" b="0" strike="noStrike" spc="-1">
              <a:latin typeface="Arial"/>
            </a:endParaRPr>
          </a:p>
        </p:txBody>
      </p:sp>
      <p:sp>
        <p:nvSpPr>
          <p:cNvPr id="351" name="Shape 18"/>
          <p:cNvSpPr/>
          <p:nvPr/>
        </p:nvSpPr>
        <p:spPr>
          <a:xfrm>
            <a:off x="2624400" y="2962800"/>
            <a:ext cx="36360" cy="1094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2" name="Shape 19"/>
          <p:cNvSpPr/>
          <p:nvPr/>
        </p:nvSpPr>
        <p:spPr>
          <a:xfrm>
            <a:off x="3840480" y="2706480"/>
            <a:ext cx="255600" cy="2556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3" name="Shape 20"/>
          <p:cNvSpPr/>
          <p:nvPr/>
        </p:nvSpPr>
        <p:spPr>
          <a:xfrm>
            <a:off x="3337560" y="1298520"/>
            <a:ext cx="1279800" cy="132552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4" name="Shape 21"/>
          <p:cNvSpPr/>
          <p:nvPr/>
        </p:nvSpPr>
        <p:spPr>
          <a:xfrm>
            <a:off x="3337560" y="1298520"/>
            <a:ext cx="1279800" cy="543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5" name="Text 22"/>
          <p:cNvSpPr/>
          <p:nvPr/>
        </p:nvSpPr>
        <p:spPr>
          <a:xfrm>
            <a:off x="3337560" y="138996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C89B3C"/>
                </a:solidFill>
                <a:latin typeface="Calibri"/>
              </a:rPr>
              <a:t>W4-5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356" name="Text 23"/>
          <p:cNvSpPr/>
          <p:nvPr/>
        </p:nvSpPr>
        <p:spPr>
          <a:xfrm>
            <a:off x="3337560" y="162756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</a:rPr>
              <a:t>Matching</a:t>
            </a:r>
            <a:endParaRPr lang="en-IN" sz="1250" b="0" strike="noStrike" spc="-1">
              <a:latin typeface="Arial"/>
            </a:endParaRPr>
          </a:p>
        </p:txBody>
      </p:sp>
      <p:sp>
        <p:nvSpPr>
          <p:cNvPr id="357" name="Text 24"/>
          <p:cNvSpPr/>
          <p:nvPr/>
        </p:nvSpPr>
        <p:spPr>
          <a:xfrm>
            <a:off x="3337560" y="1920240"/>
            <a:ext cx="12798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strike="noStrike" spc="-1">
                <a:solidFill>
                  <a:srgbClr val="8A90A8"/>
                </a:solidFill>
                <a:latin typeface="Calibri"/>
              </a:rPr>
              <a:t>Keyword + fuzzy + location</a:t>
            </a:r>
            <a:endParaRPr lang="en-IN" sz="800" b="0" strike="noStrike" spc="-1">
              <a:latin typeface="Arial"/>
            </a:endParaRPr>
          </a:p>
        </p:txBody>
      </p:sp>
      <p:sp>
        <p:nvSpPr>
          <p:cNvPr id="358" name="Shape 25"/>
          <p:cNvSpPr/>
          <p:nvPr/>
        </p:nvSpPr>
        <p:spPr>
          <a:xfrm>
            <a:off x="3950280" y="2624400"/>
            <a:ext cx="36360" cy="910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9" name="Shape 26"/>
          <p:cNvSpPr/>
          <p:nvPr/>
        </p:nvSpPr>
        <p:spPr>
          <a:xfrm>
            <a:off x="5166360" y="2706480"/>
            <a:ext cx="255600" cy="2556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0" name="Shape 27"/>
          <p:cNvSpPr/>
          <p:nvPr/>
        </p:nvSpPr>
        <p:spPr>
          <a:xfrm>
            <a:off x="4663440" y="3063240"/>
            <a:ext cx="1279800" cy="132552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1" name="Shape 28"/>
          <p:cNvSpPr/>
          <p:nvPr/>
        </p:nvSpPr>
        <p:spPr>
          <a:xfrm>
            <a:off x="4663440" y="3063240"/>
            <a:ext cx="1279800" cy="543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2" name="Text 29"/>
          <p:cNvSpPr/>
          <p:nvPr/>
        </p:nvSpPr>
        <p:spPr>
          <a:xfrm>
            <a:off x="4663440" y="315468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C89B3C"/>
                </a:solidFill>
                <a:latin typeface="Calibri"/>
              </a:rPr>
              <a:t>W6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363" name="Text 30"/>
          <p:cNvSpPr/>
          <p:nvPr/>
        </p:nvSpPr>
        <p:spPr>
          <a:xfrm>
            <a:off x="4663440" y="339228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</a:rPr>
              <a:t>Chat</a:t>
            </a:r>
            <a:endParaRPr lang="en-IN" sz="1250" b="0" strike="noStrike" spc="-1">
              <a:latin typeface="Arial"/>
            </a:endParaRPr>
          </a:p>
        </p:txBody>
      </p:sp>
      <p:sp>
        <p:nvSpPr>
          <p:cNvPr id="364" name="Text 31"/>
          <p:cNvSpPr/>
          <p:nvPr/>
        </p:nvSpPr>
        <p:spPr>
          <a:xfrm>
            <a:off x="4663440" y="3684960"/>
            <a:ext cx="12798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strike="noStrike" spc="-1">
                <a:solidFill>
                  <a:srgbClr val="8A90A8"/>
                </a:solidFill>
                <a:latin typeface="Calibri"/>
              </a:rPr>
              <a:t>WebSocket STOMP — DONE</a:t>
            </a:r>
            <a:endParaRPr lang="en-IN" sz="800" b="0" strike="noStrike" spc="-1">
              <a:latin typeface="Arial"/>
            </a:endParaRPr>
          </a:p>
        </p:txBody>
      </p:sp>
      <p:sp>
        <p:nvSpPr>
          <p:cNvPr id="365" name="Shape 32"/>
          <p:cNvSpPr/>
          <p:nvPr/>
        </p:nvSpPr>
        <p:spPr>
          <a:xfrm>
            <a:off x="5276160" y="2962800"/>
            <a:ext cx="36360" cy="1094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6" name="Shape 33"/>
          <p:cNvSpPr/>
          <p:nvPr/>
        </p:nvSpPr>
        <p:spPr>
          <a:xfrm>
            <a:off x="6492240" y="2706480"/>
            <a:ext cx="255600" cy="2556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7" name="Shape 34"/>
          <p:cNvSpPr/>
          <p:nvPr/>
        </p:nvSpPr>
        <p:spPr>
          <a:xfrm>
            <a:off x="5989320" y="1298520"/>
            <a:ext cx="1279800" cy="132552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8" name="Shape 35"/>
          <p:cNvSpPr/>
          <p:nvPr/>
        </p:nvSpPr>
        <p:spPr>
          <a:xfrm>
            <a:off x="5989320" y="1298520"/>
            <a:ext cx="1279800" cy="543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9" name="Text 36"/>
          <p:cNvSpPr/>
          <p:nvPr/>
        </p:nvSpPr>
        <p:spPr>
          <a:xfrm>
            <a:off x="5989320" y="138996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C89B3C"/>
                </a:solidFill>
                <a:latin typeface="Calibri"/>
              </a:rPr>
              <a:t>W7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370" name="Text 37"/>
          <p:cNvSpPr/>
          <p:nvPr/>
        </p:nvSpPr>
        <p:spPr>
          <a:xfrm>
            <a:off x="5989320" y="162756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</a:rPr>
              <a:t>Admin</a:t>
            </a:r>
            <a:endParaRPr lang="en-IN" sz="1250" b="0" strike="noStrike" spc="-1">
              <a:latin typeface="Arial"/>
            </a:endParaRPr>
          </a:p>
        </p:txBody>
      </p:sp>
      <p:sp>
        <p:nvSpPr>
          <p:cNvPr id="371" name="Text 38"/>
          <p:cNvSpPr/>
          <p:nvPr/>
        </p:nvSpPr>
        <p:spPr>
          <a:xfrm>
            <a:off x="5989320" y="1920240"/>
            <a:ext cx="12798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strike="noStrike" spc="-1">
                <a:solidFill>
                  <a:srgbClr val="8A90A8"/>
                </a:solidFill>
                <a:latin typeface="Calibri"/>
              </a:rPr>
              <a:t>Dashboard, moderation</a:t>
            </a:r>
            <a:endParaRPr lang="en-IN" sz="800" b="0" strike="noStrike" spc="-1">
              <a:latin typeface="Arial"/>
            </a:endParaRPr>
          </a:p>
        </p:txBody>
      </p:sp>
      <p:sp>
        <p:nvSpPr>
          <p:cNvPr id="372" name="Shape 39"/>
          <p:cNvSpPr/>
          <p:nvPr/>
        </p:nvSpPr>
        <p:spPr>
          <a:xfrm>
            <a:off x="6602040" y="2624400"/>
            <a:ext cx="36360" cy="910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3" name="Shape 40"/>
          <p:cNvSpPr/>
          <p:nvPr/>
        </p:nvSpPr>
        <p:spPr>
          <a:xfrm>
            <a:off x="7818120" y="2706480"/>
            <a:ext cx="255600" cy="2556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4" name="Shape 41"/>
          <p:cNvSpPr/>
          <p:nvPr/>
        </p:nvSpPr>
        <p:spPr>
          <a:xfrm>
            <a:off x="7315200" y="3063240"/>
            <a:ext cx="1279800" cy="132552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5" name="Shape 42"/>
          <p:cNvSpPr/>
          <p:nvPr/>
        </p:nvSpPr>
        <p:spPr>
          <a:xfrm>
            <a:off x="7315200" y="3063240"/>
            <a:ext cx="1279800" cy="543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6" name="Text 43"/>
          <p:cNvSpPr/>
          <p:nvPr/>
        </p:nvSpPr>
        <p:spPr>
          <a:xfrm>
            <a:off x="7315200" y="315468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C89B3C"/>
                </a:solidFill>
                <a:latin typeface="Calibri"/>
              </a:rPr>
              <a:t>W8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377" name="Text 44"/>
          <p:cNvSpPr/>
          <p:nvPr/>
        </p:nvSpPr>
        <p:spPr>
          <a:xfrm>
            <a:off x="7315200" y="339228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</a:rPr>
              <a:t>Reports</a:t>
            </a:r>
            <a:endParaRPr lang="en-IN" sz="1250" b="0" strike="noStrike" spc="-1">
              <a:latin typeface="Arial"/>
            </a:endParaRPr>
          </a:p>
        </p:txBody>
      </p:sp>
      <p:sp>
        <p:nvSpPr>
          <p:cNvPr id="378" name="Text 45"/>
          <p:cNvSpPr/>
          <p:nvPr/>
        </p:nvSpPr>
        <p:spPr>
          <a:xfrm>
            <a:off x="7315200" y="3684960"/>
            <a:ext cx="12798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strike="noStrike" spc="-1">
                <a:solidFill>
                  <a:srgbClr val="8A90A8"/>
                </a:solidFill>
                <a:latin typeface="Calibri"/>
              </a:rPr>
              <a:t>Analytics, metrics</a:t>
            </a:r>
            <a:endParaRPr lang="en-IN" sz="800" b="0" strike="noStrike" spc="-1">
              <a:latin typeface="Arial"/>
            </a:endParaRPr>
          </a:p>
        </p:txBody>
      </p:sp>
      <p:sp>
        <p:nvSpPr>
          <p:cNvPr id="379" name="Shape 46"/>
          <p:cNvSpPr/>
          <p:nvPr/>
        </p:nvSpPr>
        <p:spPr>
          <a:xfrm>
            <a:off x="7927920" y="2962800"/>
            <a:ext cx="36360" cy="1094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0" name="Shape 47"/>
          <p:cNvSpPr/>
          <p:nvPr/>
        </p:nvSpPr>
        <p:spPr>
          <a:xfrm>
            <a:off x="365760" y="4590360"/>
            <a:ext cx="8412120" cy="347040"/>
          </a:xfrm>
          <a:prstGeom prst="rect">
            <a:avLst/>
          </a:prstGeom>
          <a:solidFill>
            <a:srgbClr val="141729"/>
          </a:solidFill>
          <a:ln w="508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1" name="Text 48"/>
          <p:cNvSpPr/>
          <p:nvPr/>
        </p:nvSpPr>
        <p:spPr>
          <a:xfrm>
            <a:off x="365760" y="459036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>
                <a:solidFill>
                  <a:srgbClr val="8A90A8"/>
                </a:solidFill>
                <a:latin typeface="Calibri"/>
              </a:rPr>
              <a:t>Evaluation: W1 Login/roles  |  W3 Posting functional  |  W5 Matching tested  |  W6 Chat working  |  W8 Admin &amp; reports generated</a:t>
            </a:r>
            <a:endParaRPr lang="en-IN" sz="9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0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3" name="Shape 1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4" name="Text 2"/>
          <p:cNvSpPr/>
          <p:nvPr/>
        </p:nvSpPr>
        <p:spPr>
          <a:xfrm>
            <a:off x="457200" y="16452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50" b="1" strike="noStrike" spc="398">
                <a:solidFill>
                  <a:srgbClr val="C89B3C"/>
                </a:solidFill>
                <a:latin typeface="Calibri"/>
              </a:rPr>
              <a:t>FUTURE ENHANCEMENTS</a:t>
            </a:r>
            <a:endParaRPr lang="en-IN" sz="750" b="0" strike="noStrike" spc="-1">
              <a:latin typeface="Arial"/>
            </a:endParaRPr>
          </a:p>
        </p:txBody>
      </p:sp>
      <p:sp>
        <p:nvSpPr>
          <p:cNvPr id="385" name="Text 3"/>
          <p:cNvSpPr/>
          <p:nvPr/>
        </p:nvSpPr>
        <p:spPr>
          <a:xfrm>
            <a:off x="457200" y="4024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Cambria"/>
                <a:ea typeface="Cambria"/>
              </a:rPr>
              <a:t>Upcoming Features &amp; Improvements</a:t>
            </a:r>
            <a:endParaRPr lang="en-IN" sz="2600" b="0" strike="noStrike" spc="-1">
              <a:latin typeface="Arial"/>
            </a:endParaRPr>
          </a:p>
        </p:txBody>
      </p:sp>
      <p:sp>
        <p:nvSpPr>
          <p:cNvPr id="386" name="Shape 4"/>
          <p:cNvSpPr/>
          <p:nvPr/>
        </p:nvSpPr>
        <p:spPr>
          <a:xfrm>
            <a:off x="365760" y="1170360"/>
            <a:ext cx="2697120" cy="16912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7" name="Shape 5"/>
          <p:cNvSpPr/>
          <p:nvPr/>
        </p:nvSpPr>
        <p:spPr>
          <a:xfrm>
            <a:off x="365760" y="1170360"/>
            <a:ext cx="54360" cy="1691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8" name="Shape 6"/>
          <p:cNvSpPr/>
          <p:nvPr/>
        </p:nvSpPr>
        <p:spPr>
          <a:xfrm>
            <a:off x="2651760" y="1280160"/>
            <a:ext cx="310680" cy="3106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9" name="Text 7"/>
          <p:cNvSpPr/>
          <p:nvPr/>
        </p:nvSpPr>
        <p:spPr>
          <a:xfrm>
            <a:off x="511920" y="128016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AI-Powered Matching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390" name="Text 8"/>
          <p:cNvSpPr/>
          <p:nvPr/>
        </p:nvSpPr>
        <p:spPr>
          <a:xfrm>
            <a:off x="511920" y="1719000"/>
            <a:ext cx="24685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8A90A8"/>
                </a:solidFill>
                <a:latin typeface="Calibri"/>
              </a:rPr>
              <a:t>NLP &amp; ML models for higher accuracy beyond keyword matching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391" name="Shape 9"/>
          <p:cNvSpPr/>
          <p:nvPr/>
        </p:nvSpPr>
        <p:spPr>
          <a:xfrm>
            <a:off x="3218760" y="1170360"/>
            <a:ext cx="2697120" cy="16912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2" name="Shape 10"/>
          <p:cNvSpPr/>
          <p:nvPr/>
        </p:nvSpPr>
        <p:spPr>
          <a:xfrm>
            <a:off x="3218760" y="1170360"/>
            <a:ext cx="54360" cy="1691280"/>
          </a:xfrm>
          <a:prstGeom prst="rect">
            <a:avLst/>
          </a:prstGeom>
          <a:solidFill>
            <a:srgbClr val="1A6FBE"/>
          </a:solidFill>
          <a:ln w="12700">
            <a:solidFill>
              <a:srgbClr val="1A6F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3" name="Shape 11"/>
          <p:cNvSpPr/>
          <p:nvPr/>
        </p:nvSpPr>
        <p:spPr>
          <a:xfrm>
            <a:off x="5504760" y="1280160"/>
            <a:ext cx="310680" cy="310680"/>
          </a:xfrm>
          <a:prstGeom prst="ellipse">
            <a:avLst/>
          </a:prstGeom>
          <a:solidFill>
            <a:srgbClr val="1A6FBE"/>
          </a:solidFill>
          <a:ln w="12700">
            <a:solidFill>
              <a:srgbClr val="1A6F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4" name="Text 12"/>
          <p:cNvSpPr/>
          <p:nvPr/>
        </p:nvSpPr>
        <p:spPr>
          <a:xfrm>
            <a:off x="3364920" y="128016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Email &amp; Push Alerts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395" name="Text 13"/>
          <p:cNvSpPr/>
          <p:nvPr/>
        </p:nvSpPr>
        <p:spPr>
          <a:xfrm>
            <a:off x="3364920" y="1719000"/>
            <a:ext cx="24685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8A90A8"/>
                </a:solidFill>
                <a:latin typeface="Calibri"/>
              </a:rPr>
              <a:t>Instant notification when a potential match is found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396" name="Shape 14"/>
          <p:cNvSpPr/>
          <p:nvPr/>
        </p:nvSpPr>
        <p:spPr>
          <a:xfrm>
            <a:off x="6071760" y="1170360"/>
            <a:ext cx="2697120" cy="16912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7" name="Shape 15"/>
          <p:cNvSpPr/>
          <p:nvPr/>
        </p:nvSpPr>
        <p:spPr>
          <a:xfrm>
            <a:off x="6071760" y="1170360"/>
            <a:ext cx="54360" cy="1691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8" name="Shape 16"/>
          <p:cNvSpPr/>
          <p:nvPr/>
        </p:nvSpPr>
        <p:spPr>
          <a:xfrm>
            <a:off x="8357760" y="1280160"/>
            <a:ext cx="310680" cy="3106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9" name="Text 17"/>
          <p:cNvSpPr/>
          <p:nvPr/>
        </p:nvSpPr>
        <p:spPr>
          <a:xfrm>
            <a:off x="6217920" y="128016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Private Direct Messages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400" name="Text 18"/>
          <p:cNvSpPr/>
          <p:nvPr/>
        </p:nvSpPr>
        <p:spPr>
          <a:xfrm>
            <a:off x="6217920" y="1719000"/>
            <a:ext cx="24685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8A90A8"/>
                </a:solidFill>
                <a:latin typeface="Calibri"/>
              </a:rPr>
              <a:t>One-to-one private chat between item owner and finder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401" name="Shape 19"/>
          <p:cNvSpPr/>
          <p:nvPr/>
        </p:nvSpPr>
        <p:spPr>
          <a:xfrm>
            <a:off x="365760" y="3054240"/>
            <a:ext cx="2697120" cy="16912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2" name="Shape 20"/>
          <p:cNvSpPr/>
          <p:nvPr/>
        </p:nvSpPr>
        <p:spPr>
          <a:xfrm>
            <a:off x="365760" y="3054240"/>
            <a:ext cx="54360" cy="169128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3" name="Shape 21"/>
          <p:cNvSpPr/>
          <p:nvPr/>
        </p:nvSpPr>
        <p:spPr>
          <a:xfrm>
            <a:off x="2651760" y="3163680"/>
            <a:ext cx="310680" cy="31068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4" name="Text 22"/>
          <p:cNvSpPr/>
          <p:nvPr/>
        </p:nvSpPr>
        <p:spPr>
          <a:xfrm>
            <a:off x="511920" y="316368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Mobile App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405" name="Text 23"/>
          <p:cNvSpPr/>
          <p:nvPr/>
        </p:nvSpPr>
        <p:spPr>
          <a:xfrm>
            <a:off x="511920" y="3602880"/>
            <a:ext cx="24685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8A90A8"/>
                </a:solidFill>
                <a:latin typeface="Calibri"/>
              </a:rPr>
              <a:t>React Native iOS/Android app for on-the-go reporting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406" name="Shape 24"/>
          <p:cNvSpPr/>
          <p:nvPr/>
        </p:nvSpPr>
        <p:spPr>
          <a:xfrm>
            <a:off x="3218760" y="3054240"/>
            <a:ext cx="2697120" cy="16912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7" name="Shape 25"/>
          <p:cNvSpPr/>
          <p:nvPr/>
        </p:nvSpPr>
        <p:spPr>
          <a:xfrm>
            <a:off x="3218760" y="3054240"/>
            <a:ext cx="54360" cy="1691280"/>
          </a:xfrm>
          <a:prstGeom prst="rect">
            <a:avLst/>
          </a:prstGeom>
          <a:solidFill>
            <a:srgbClr val="E78C35"/>
          </a:solidFill>
          <a:ln w="12700">
            <a:solidFill>
              <a:srgbClr val="E78C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8" name="Shape 26"/>
          <p:cNvSpPr/>
          <p:nvPr/>
        </p:nvSpPr>
        <p:spPr>
          <a:xfrm>
            <a:off x="5504760" y="3163680"/>
            <a:ext cx="310680" cy="310680"/>
          </a:xfrm>
          <a:prstGeom prst="ellipse">
            <a:avLst/>
          </a:prstGeom>
          <a:solidFill>
            <a:srgbClr val="E78C35"/>
          </a:solidFill>
          <a:ln w="12700">
            <a:solidFill>
              <a:srgbClr val="E78C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9" name="Text 27"/>
          <p:cNvSpPr/>
          <p:nvPr/>
        </p:nvSpPr>
        <p:spPr>
          <a:xfrm>
            <a:off x="3364920" y="316368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Interactive Campus Map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410" name="Text 28"/>
          <p:cNvSpPr/>
          <p:nvPr/>
        </p:nvSpPr>
        <p:spPr>
          <a:xfrm>
            <a:off x="3364920" y="3602880"/>
            <a:ext cx="24685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8A90A8"/>
                </a:solidFill>
                <a:latin typeface="Calibri"/>
              </a:rPr>
              <a:t>Map-based location picker for precise item tagging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411" name="Shape 29"/>
          <p:cNvSpPr/>
          <p:nvPr/>
        </p:nvSpPr>
        <p:spPr>
          <a:xfrm>
            <a:off x="6071760" y="3054240"/>
            <a:ext cx="2697120" cy="169128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2" name="Shape 30"/>
          <p:cNvSpPr/>
          <p:nvPr/>
        </p:nvSpPr>
        <p:spPr>
          <a:xfrm>
            <a:off x="6071760" y="3054240"/>
            <a:ext cx="54360" cy="16912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3" name="Shape 31"/>
          <p:cNvSpPr/>
          <p:nvPr/>
        </p:nvSpPr>
        <p:spPr>
          <a:xfrm>
            <a:off x="8357760" y="3163680"/>
            <a:ext cx="310680" cy="31068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4" name="Text 32"/>
          <p:cNvSpPr/>
          <p:nvPr/>
        </p:nvSpPr>
        <p:spPr>
          <a:xfrm>
            <a:off x="6217920" y="316368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</a:rPr>
              <a:t>Blockchain Verification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415" name="Text 33"/>
          <p:cNvSpPr/>
          <p:nvPr/>
        </p:nvSpPr>
        <p:spPr>
          <a:xfrm>
            <a:off x="6217920" y="3602880"/>
            <a:ext cx="24685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8A90A8"/>
                </a:solidFill>
                <a:latin typeface="Calibri"/>
              </a:rPr>
              <a:t>Tamper-proof ownership records and item transfer proof</a:t>
            </a:r>
            <a:endParaRPr lang="en-IN" sz="95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0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7" name="Shape 1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8" name="Shape 2"/>
          <p:cNvSpPr/>
          <p:nvPr/>
        </p:nvSpPr>
        <p:spPr>
          <a:xfrm>
            <a:off x="0" y="50400"/>
            <a:ext cx="4663080" cy="5042520"/>
          </a:xfrm>
          <a:prstGeom prst="rect">
            <a:avLst/>
          </a:prstGeom>
          <a:solidFill>
            <a:srgbClr val="141729"/>
          </a:solidFill>
          <a:ln w="12700">
            <a:solidFill>
              <a:srgbClr val="1417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9" name="Shape 3"/>
          <p:cNvSpPr/>
          <p:nvPr/>
        </p:nvSpPr>
        <p:spPr>
          <a:xfrm>
            <a:off x="4663440" y="50400"/>
            <a:ext cx="50040" cy="504252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0" name="Text 5"/>
          <p:cNvSpPr/>
          <p:nvPr/>
        </p:nvSpPr>
        <p:spPr>
          <a:xfrm>
            <a:off x="365760" y="292680"/>
            <a:ext cx="41144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50" b="1" strike="noStrike" spc="398">
                <a:solidFill>
                  <a:srgbClr val="C89B3C"/>
                </a:solidFill>
                <a:latin typeface="Calibri"/>
              </a:rPr>
              <a:t>CONCLUSION</a:t>
            </a:r>
            <a:endParaRPr lang="en-IN" sz="750" b="0" strike="noStrike" spc="-1">
              <a:latin typeface="Arial"/>
            </a:endParaRPr>
          </a:p>
        </p:txBody>
      </p:sp>
      <p:sp>
        <p:nvSpPr>
          <p:cNvPr id="421" name="Text 6"/>
          <p:cNvSpPr/>
          <p:nvPr/>
        </p:nvSpPr>
        <p:spPr>
          <a:xfrm>
            <a:off x="365760" y="56700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Cambria"/>
                <a:ea typeface="Cambria"/>
              </a:rPr>
              <a:t>CampusTrack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422" name="Text 7"/>
          <p:cNvSpPr/>
          <p:nvPr/>
        </p:nvSpPr>
        <p:spPr>
          <a:xfrm>
            <a:off x="365760" y="13716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E8B84B"/>
                </a:solidFill>
                <a:latin typeface="Cambria"/>
                <a:ea typeface="Cambria"/>
              </a:rPr>
              <a:t>Intelligent Lost &amp; Found Locator</a:t>
            </a:r>
            <a:endParaRPr lang="en-IN" sz="1300" b="0" strike="noStrike" spc="-1">
              <a:latin typeface="Arial"/>
            </a:endParaRPr>
          </a:p>
        </p:txBody>
      </p:sp>
      <p:sp>
        <p:nvSpPr>
          <p:cNvPr id="423" name="Shape 8"/>
          <p:cNvSpPr/>
          <p:nvPr/>
        </p:nvSpPr>
        <p:spPr>
          <a:xfrm>
            <a:off x="365760" y="1828800"/>
            <a:ext cx="1828440" cy="363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4" name="Text 9"/>
          <p:cNvSpPr/>
          <p:nvPr/>
        </p:nvSpPr>
        <p:spPr>
          <a:xfrm>
            <a:off x="365760" y="1993320"/>
            <a:ext cx="41144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>
                <a:solidFill>
                  <a:srgbClr val="D8D4CC"/>
                </a:solidFill>
                <a:latin typeface="Calibri"/>
              </a:rPr>
              <a:t>CampusTrack successfully delivers a full-stack campus lost and found portal solving a real everyday problem. Through intelligent matching, JWT security, WebSocket live chat, and admin moderation — the platform creates a complete ecosystem for reconnecting students with their belongings.</a:t>
            </a:r>
            <a:endParaRPr lang="en-IN" sz="1050" b="0" strike="noStrike" spc="-1">
              <a:latin typeface="Arial"/>
            </a:endParaRPr>
          </a:p>
        </p:txBody>
      </p:sp>
      <p:sp>
        <p:nvSpPr>
          <p:cNvPr id="425" name="Shape 10"/>
          <p:cNvSpPr/>
          <p:nvPr/>
        </p:nvSpPr>
        <p:spPr>
          <a:xfrm>
            <a:off x="365760" y="3493080"/>
            <a:ext cx="1261440" cy="347040"/>
          </a:xfrm>
          <a:prstGeom prst="roundRect">
            <a:avLst>
              <a:gd name="adj" fmla="val 15789"/>
            </a:avLst>
          </a:prstGeom>
          <a:solidFill>
            <a:srgbClr val="0B0D18"/>
          </a:solidFill>
          <a:ln w="635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6" name="Text 11"/>
          <p:cNvSpPr/>
          <p:nvPr/>
        </p:nvSpPr>
        <p:spPr>
          <a:xfrm>
            <a:off x="365760" y="3493080"/>
            <a:ext cx="1261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50" b="0" strike="noStrike" spc="-1">
                <a:solidFill>
                  <a:srgbClr val="C89B3C"/>
                </a:solidFill>
                <a:latin typeface="Calibri"/>
              </a:rPr>
              <a:t>Full-Stack Java</a:t>
            </a:r>
            <a:endParaRPr lang="en-IN" sz="850" b="0" strike="noStrike" spc="-1">
              <a:latin typeface="Arial"/>
            </a:endParaRPr>
          </a:p>
        </p:txBody>
      </p:sp>
      <p:sp>
        <p:nvSpPr>
          <p:cNvPr id="427" name="Shape 12"/>
          <p:cNvSpPr/>
          <p:nvPr/>
        </p:nvSpPr>
        <p:spPr>
          <a:xfrm>
            <a:off x="1755720" y="3493080"/>
            <a:ext cx="1261440" cy="347040"/>
          </a:xfrm>
          <a:prstGeom prst="roundRect">
            <a:avLst>
              <a:gd name="adj" fmla="val 15789"/>
            </a:avLst>
          </a:prstGeom>
          <a:solidFill>
            <a:srgbClr val="0B0D18"/>
          </a:solidFill>
          <a:ln w="635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8" name="Text 13"/>
          <p:cNvSpPr/>
          <p:nvPr/>
        </p:nvSpPr>
        <p:spPr>
          <a:xfrm>
            <a:off x="1755720" y="3493080"/>
            <a:ext cx="1261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50" b="0" strike="noStrike" spc="-1">
                <a:solidFill>
                  <a:srgbClr val="C89B3C"/>
                </a:solidFill>
                <a:latin typeface="Calibri"/>
              </a:rPr>
              <a:t>JWT Auth</a:t>
            </a:r>
            <a:endParaRPr lang="en-IN" sz="850" b="0" strike="noStrike" spc="-1">
              <a:latin typeface="Arial"/>
            </a:endParaRPr>
          </a:p>
        </p:txBody>
      </p:sp>
      <p:sp>
        <p:nvSpPr>
          <p:cNvPr id="429" name="Shape 14"/>
          <p:cNvSpPr/>
          <p:nvPr/>
        </p:nvSpPr>
        <p:spPr>
          <a:xfrm>
            <a:off x="3145680" y="3493080"/>
            <a:ext cx="1261440" cy="347040"/>
          </a:xfrm>
          <a:prstGeom prst="roundRect">
            <a:avLst>
              <a:gd name="adj" fmla="val 15789"/>
            </a:avLst>
          </a:prstGeom>
          <a:solidFill>
            <a:srgbClr val="0B0D18"/>
          </a:solidFill>
          <a:ln w="635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0" name="Text 15"/>
          <p:cNvSpPr/>
          <p:nvPr/>
        </p:nvSpPr>
        <p:spPr>
          <a:xfrm>
            <a:off x="3145680" y="3493080"/>
            <a:ext cx="1261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50" b="0" strike="noStrike" spc="-1">
                <a:solidFill>
                  <a:srgbClr val="C89B3C"/>
                </a:solidFill>
                <a:latin typeface="Calibri"/>
              </a:rPr>
              <a:t>WebSocket Chat</a:t>
            </a:r>
            <a:endParaRPr lang="en-IN" sz="850" b="0" strike="noStrike" spc="-1">
              <a:latin typeface="Arial"/>
            </a:endParaRPr>
          </a:p>
        </p:txBody>
      </p:sp>
      <p:sp>
        <p:nvSpPr>
          <p:cNvPr id="431" name="Shape 16"/>
          <p:cNvSpPr/>
          <p:nvPr/>
        </p:nvSpPr>
        <p:spPr>
          <a:xfrm>
            <a:off x="365760" y="3950280"/>
            <a:ext cx="1261440" cy="347040"/>
          </a:xfrm>
          <a:prstGeom prst="roundRect">
            <a:avLst>
              <a:gd name="adj" fmla="val 15789"/>
            </a:avLst>
          </a:prstGeom>
          <a:solidFill>
            <a:srgbClr val="0B0D18"/>
          </a:solidFill>
          <a:ln w="635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2" name="Text 17"/>
          <p:cNvSpPr/>
          <p:nvPr/>
        </p:nvSpPr>
        <p:spPr>
          <a:xfrm>
            <a:off x="365760" y="3950280"/>
            <a:ext cx="1261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50" b="0" strike="noStrike" spc="-1">
                <a:solidFill>
                  <a:srgbClr val="C89B3C"/>
                </a:solidFill>
                <a:latin typeface="Calibri"/>
              </a:rPr>
              <a:t>Smart Matching</a:t>
            </a:r>
            <a:endParaRPr lang="en-IN" sz="850" b="0" strike="noStrike" spc="-1">
              <a:latin typeface="Arial"/>
            </a:endParaRPr>
          </a:p>
        </p:txBody>
      </p:sp>
      <p:sp>
        <p:nvSpPr>
          <p:cNvPr id="433" name="Shape 18"/>
          <p:cNvSpPr/>
          <p:nvPr/>
        </p:nvSpPr>
        <p:spPr>
          <a:xfrm>
            <a:off x="1755720" y="3950280"/>
            <a:ext cx="1261440" cy="347040"/>
          </a:xfrm>
          <a:prstGeom prst="roundRect">
            <a:avLst>
              <a:gd name="adj" fmla="val 15789"/>
            </a:avLst>
          </a:prstGeom>
          <a:solidFill>
            <a:srgbClr val="0B0D18"/>
          </a:solidFill>
          <a:ln w="635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4" name="Text 19"/>
          <p:cNvSpPr/>
          <p:nvPr/>
        </p:nvSpPr>
        <p:spPr>
          <a:xfrm>
            <a:off x="1755720" y="3950280"/>
            <a:ext cx="1261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50" b="0" strike="noStrike" spc="-1">
                <a:solidFill>
                  <a:srgbClr val="C89B3C"/>
                </a:solidFill>
                <a:latin typeface="Calibri"/>
              </a:rPr>
              <a:t>Admin Panel</a:t>
            </a:r>
            <a:endParaRPr lang="en-IN" sz="850" b="0" strike="noStrike" spc="-1">
              <a:latin typeface="Arial"/>
            </a:endParaRPr>
          </a:p>
        </p:txBody>
      </p:sp>
      <p:sp>
        <p:nvSpPr>
          <p:cNvPr id="435" name="Shape 20"/>
          <p:cNvSpPr/>
          <p:nvPr/>
        </p:nvSpPr>
        <p:spPr>
          <a:xfrm>
            <a:off x="3145680" y="3950280"/>
            <a:ext cx="1261440" cy="347040"/>
          </a:xfrm>
          <a:prstGeom prst="roundRect">
            <a:avLst>
              <a:gd name="adj" fmla="val 15789"/>
            </a:avLst>
          </a:prstGeom>
          <a:solidFill>
            <a:srgbClr val="0B0D18"/>
          </a:solidFill>
          <a:ln w="6350">
            <a:solidFill>
              <a:srgbClr val="C89B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6" name="Text 21"/>
          <p:cNvSpPr/>
          <p:nvPr/>
        </p:nvSpPr>
        <p:spPr>
          <a:xfrm>
            <a:off x="3145680" y="3950280"/>
            <a:ext cx="1261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50" b="0" strike="noStrike" spc="-1">
                <a:solidFill>
                  <a:srgbClr val="C89B3C"/>
                </a:solidFill>
                <a:latin typeface="Calibri"/>
              </a:rPr>
              <a:t>Analytics</a:t>
            </a:r>
            <a:endParaRPr lang="en-IN" sz="850" b="0" strike="noStrike" spc="-1">
              <a:latin typeface="Arial"/>
            </a:endParaRPr>
          </a:p>
        </p:txBody>
      </p:sp>
      <p:sp>
        <p:nvSpPr>
          <p:cNvPr id="437" name="Text 22"/>
          <p:cNvSpPr/>
          <p:nvPr/>
        </p:nvSpPr>
        <p:spPr>
          <a:xfrm>
            <a:off x="4892040" y="29268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50" b="1" strike="noStrike" spc="398">
                <a:solidFill>
                  <a:srgbClr val="C89B3C"/>
                </a:solidFill>
                <a:latin typeface="Calibri"/>
              </a:rPr>
              <a:t>KEY TAKEAWAYS</a:t>
            </a:r>
            <a:endParaRPr lang="en-IN" sz="750" b="0" strike="noStrike" spc="-1">
              <a:latin typeface="Arial"/>
            </a:endParaRPr>
          </a:p>
        </p:txBody>
      </p:sp>
      <p:sp>
        <p:nvSpPr>
          <p:cNvPr id="438" name="Shape 23"/>
          <p:cNvSpPr/>
          <p:nvPr/>
        </p:nvSpPr>
        <p:spPr>
          <a:xfrm>
            <a:off x="4892040" y="567000"/>
            <a:ext cx="3931560" cy="749520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9" name="Shape 24"/>
          <p:cNvSpPr/>
          <p:nvPr/>
        </p:nvSpPr>
        <p:spPr>
          <a:xfrm>
            <a:off x="4892040" y="567000"/>
            <a:ext cx="54360" cy="7495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0" name="Text 25"/>
          <p:cNvSpPr/>
          <p:nvPr/>
        </p:nvSpPr>
        <p:spPr>
          <a:xfrm>
            <a:off x="4983480" y="676800"/>
            <a:ext cx="255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4CAF7D"/>
                </a:solidFill>
                <a:latin typeface="Calibri"/>
              </a:rPr>
              <a:t>v</a:t>
            </a:r>
            <a:endParaRPr lang="en-IN" sz="1300" b="0" strike="noStrike" spc="-1">
              <a:latin typeface="Arial"/>
            </a:endParaRPr>
          </a:p>
        </p:txBody>
      </p:sp>
      <p:sp>
        <p:nvSpPr>
          <p:cNvPr id="441" name="Text 26"/>
          <p:cNvSpPr/>
          <p:nvPr/>
        </p:nvSpPr>
        <p:spPr>
          <a:xfrm>
            <a:off x="5257800" y="64008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50" b="1" strike="noStrike" spc="-1">
                <a:solidFill>
                  <a:srgbClr val="FFFFFF"/>
                </a:solidFill>
                <a:latin typeface="Calibri"/>
              </a:rPr>
              <a:t>All 6 Modules Completed</a:t>
            </a:r>
            <a:endParaRPr lang="en-IN" sz="1150" b="0" strike="noStrike" spc="-1">
              <a:latin typeface="Arial"/>
            </a:endParaRPr>
          </a:p>
        </p:txBody>
      </p:sp>
      <p:sp>
        <p:nvSpPr>
          <p:cNvPr id="442" name="Text 27"/>
          <p:cNvSpPr/>
          <p:nvPr/>
        </p:nvSpPr>
        <p:spPr>
          <a:xfrm>
            <a:off x="5257800" y="95112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8A90A8"/>
                </a:solidFill>
                <a:latin typeface="Calibri"/>
              </a:rPr>
              <a:t>Auth, Posts, Matching, Chat, Admin, Analytics — 100%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443" name="Shape 28"/>
          <p:cNvSpPr/>
          <p:nvPr/>
        </p:nvSpPr>
        <p:spPr>
          <a:xfrm>
            <a:off x="4892040" y="1444680"/>
            <a:ext cx="3931560" cy="749520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4" name="Shape 29"/>
          <p:cNvSpPr/>
          <p:nvPr/>
        </p:nvSpPr>
        <p:spPr>
          <a:xfrm>
            <a:off x="4892040" y="1444680"/>
            <a:ext cx="54360" cy="7495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5" name="Text 30"/>
          <p:cNvSpPr/>
          <p:nvPr/>
        </p:nvSpPr>
        <p:spPr>
          <a:xfrm>
            <a:off x="4983480" y="1554480"/>
            <a:ext cx="255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4CAF7D"/>
                </a:solidFill>
                <a:latin typeface="Calibri"/>
              </a:rPr>
              <a:t>v</a:t>
            </a:r>
            <a:endParaRPr lang="en-IN" sz="1300" b="0" strike="noStrike" spc="-1">
              <a:latin typeface="Arial"/>
            </a:endParaRPr>
          </a:p>
        </p:txBody>
      </p:sp>
      <p:sp>
        <p:nvSpPr>
          <p:cNvPr id="446" name="Text 31"/>
          <p:cNvSpPr/>
          <p:nvPr/>
        </p:nvSpPr>
        <p:spPr>
          <a:xfrm>
            <a:off x="5257800" y="151776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50" b="1" strike="noStrike" spc="-1">
                <a:solidFill>
                  <a:srgbClr val="FFFFFF"/>
                </a:solidFill>
                <a:latin typeface="Calibri"/>
              </a:rPr>
              <a:t>Real-time WebSocket Chat</a:t>
            </a:r>
            <a:endParaRPr lang="en-IN" sz="1150" b="0" strike="noStrike" spc="-1">
              <a:latin typeface="Arial"/>
            </a:endParaRPr>
          </a:p>
        </p:txBody>
      </p:sp>
      <p:sp>
        <p:nvSpPr>
          <p:cNvPr id="447" name="Text 32"/>
          <p:cNvSpPr/>
          <p:nvPr/>
        </p:nvSpPr>
        <p:spPr>
          <a:xfrm>
            <a:off x="5257800" y="182880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8A90A8"/>
                </a:solidFill>
                <a:latin typeface="Calibri"/>
              </a:rPr>
              <a:t>Live messaging connects reporters &amp; finders instantly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448" name="Shape 33"/>
          <p:cNvSpPr/>
          <p:nvPr/>
        </p:nvSpPr>
        <p:spPr>
          <a:xfrm>
            <a:off x="4892040" y="2322720"/>
            <a:ext cx="3931560" cy="749520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9" name="Shape 34"/>
          <p:cNvSpPr/>
          <p:nvPr/>
        </p:nvSpPr>
        <p:spPr>
          <a:xfrm>
            <a:off x="4892040" y="2322720"/>
            <a:ext cx="54360" cy="7495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0" name="Text 35"/>
          <p:cNvSpPr/>
          <p:nvPr/>
        </p:nvSpPr>
        <p:spPr>
          <a:xfrm>
            <a:off x="4983480" y="2432160"/>
            <a:ext cx="255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4CAF7D"/>
                </a:solidFill>
                <a:latin typeface="Calibri"/>
              </a:rPr>
              <a:t>v</a:t>
            </a:r>
            <a:endParaRPr lang="en-IN" sz="1300" b="0" strike="noStrike" spc="-1">
              <a:latin typeface="Arial"/>
            </a:endParaRPr>
          </a:p>
        </p:txBody>
      </p:sp>
      <p:sp>
        <p:nvSpPr>
          <p:cNvPr id="451" name="Text 36"/>
          <p:cNvSpPr/>
          <p:nvPr/>
        </p:nvSpPr>
        <p:spPr>
          <a:xfrm>
            <a:off x="5257800" y="239580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50" b="1" strike="noStrike" spc="-1">
                <a:solidFill>
                  <a:srgbClr val="FFFFFF"/>
                </a:solidFill>
                <a:latin typeface="Calibri"/>
              </a:rPr>
              <a:t>Smart Matching Engine</a:t>
            </a:r>
            <a:endParaRPr lang="en-IN" sz="1150" b="0" strike="noStrike" spc="-1">
              <a:latin typeface="Arial"/>
            </a:endParaRPr>
          </a:p>
        </p:txBody>
      </p:sp>
      <p:sp>
        <p:nvSpPr>
          <p:cNvPr id="452" name="Text 37"/>
          <p:cNvSpPr/>
          <p:nvPr/>
        </p:nvSpPr>
        <p:spPr>
          <a:xfrm>
            <a:off x="5257800" y="27064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8A90A8"/>
                </a:solidFill>
                <a:latin typeface="Calibri"/>
              </a:rPr>
              <a:t>Keyword + fuzzy + location-based suggestions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453" name="Shape 38"/>
          <p:cNvSpPr/>
          <p:nvPr/>
        </p:nvSpPr>
        <p:spPr>
          <a:xfrm>
            <a:off x="4892040" y="3200400"/>
            <a:ext cx="3931560" cy="749520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4" name="Shape 39"/>
          <p:cNvSpPr/>
          <p:nvPr/>
        </p:nvSpPr>
        <p:spPr>
          <a:xfrm>
            <a:off x="4892040" y="3200400"/>
            <a:ext cx="54360" cy="7495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5" name="Text 40"/>
          <p:cNvSpPr/>
          <p:nvPr/>
        </p:nvSpPr>
        <p:spPr>
          <a:xfrm>
            <a:off x="4983480" y="3310200"/>
            <a:ext cx="255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4CAF7D"/>
                </a:solidFill>
                <a:latin typeface="Calibri"/>
              </a:rPr>
              <a:t>v</a:t>
            </a:r>
            <a:endParaRPr lang="en-IN" sz="1300" b="0" strike="noStrike" spc="-1">
              <a:latin typeface="Arial"/>
            </a:endParaRPr>
          </a:p>
        </p:txBody>
      </p:sp>
      <p:sp>
        <p:nvSpPr>
          <p:cNvPr id="456" name="Text 41"/>
          <p:cNvSpPr/>
          <p:nvPr/>
        </p:nvSpPr>
        <p:spPr>
          <a:xfrm>
            <a:off x="5257800" y="327348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50" b="1" strike="noStrike" spc="-1">
                <a:solidFill>
                  <a:srgbClr val="FFFFFF"/>
                </a:solidFill>
                <a:latin typeface="Calibri"/>
              </a:rPr>
              <a:t>Production-Ready Dark UI</a:t>
            </a:r>
            <a:endParaRPr lang="en-IN" sz="1150" b="0" strike="noStrike" spc="-1">
              <a:latin typeface="Arial"/>
            </a:endParaRPr>
          </a:p>
        </p:txBody>
      </p:sp>
      <p:sp>
        <p:nvSpPr>
          <p:cNvPr id="457" name="Text 42"/>
          <p:cNvSpPr/>
          <p:nvPr/>
        </p:nvSpPr>
        <p:spPr>
          <a:xfrm>
            <a:off x="5257800" y="358452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8A90A8"/>
                </a:solidFill>
                <a:latin typeface="Calibri"/>
              </a:rPr>
              <a:t>Premium gold-on-dark theme, fully responsive portal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458" name="Shape 43"/>
          <p:cNvSpPr/>
          <p:nvPr/>
        </p:nvSpPr>
        <p:spPr>
          <a:xfrm>
            <a:off x="4892040" y="4078080"/>
            <a:ext cx="3931560" cy="749520"/>
          </a:xfrm>
          <a:prstGeom prst="rect">
            <a:avLst/>
          </a:prstGeom>
          <a:solidFill>
            <a:srgbClr val="1A2240"/>
          </a:solidFill>
          <a:ln w="12700">
            <a:solidFill>
              <a:srgbClr val="1A2240"/>
            </a:solidFill>
            <a:round/>
          </a:ln>
          <a:effectLst>
            <a:outerShdw blurRad="127080" dist="50402" dir="8100000" algn="bl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9" name="Shape 44"/>
          <p:cNvSpPr/>
          <p:nvPr/>
        </p:nvSpPr>
        <p:spPr>
          <a:xfrm>
            <a:off x="4892040" y="4078080"/>
            <a:ext cx="54360" cy="7495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0" name="Text 45"/>
          <p:cNvSpPr/>
          <p:nvPr/>
        </p:nvSpPr>
        <p:spPr>
          <a:xfrm>
            <a:off x="4983480" y="4187880"/>
            <a:ext cx="255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4CAF7D"/>
                </a:solidFill>
                <a:latin typeface="Calibri"/>
              </a:rPr>
              <a:t>v</a:t>
            </a:r>
            <a:endParaRPr lang="en-IN" sz="1300" b="0" strike="noStrike" spc="-1">
              <a:latin typeface="Arial"/>
            </a:endParaRPr>
          </a:p>
        </p:txBody>
      </p:sp>
      <p:sp>
        <p:nvSpPr>
          <p:cNvPr id="461" name="Text 46"/>
          <p:cNvSpPr/>
          <p:nvPr/>
        </p:nvSpPr>
        <p:spPr>
          <a:xfrm>
            <a:off x="5257800" y="415152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50" b="1" strike="noStrike" spc="-1">
                <a:solidFill>
                  <a:srgbClr val="FFFFFF"/>
                </a:solidFill>
                <a:latin typeface="Calibri"/>
              </a:rPr>
              <a:t>Secure &amp; Campus-Restricted</a:t>
            </a:r>
            <a:endParaRPr lang="en-IN" sz="1150" b="0" strike="noStrike" spc="-1">
              <a:latin typeface="Arial"/>
            </a:endParaRPr>
          </a:p>
        </p:txBody>
      </p:sp>
      <p:sp>
        <p:nvSpPr>
          <p:cNvPr id="462" name="Text 47"/>
          <p:cNvSpPr/>
          <p:nvPr/>
        </p:nvSpPr>
        <p:spPr>
          <a:xfrm>
            <a:off x="5257800" y="446220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50" b="0" strike="noStrike" spc="-1">
                <a:solidFill>
                  <a:srgbClr val="8A90A8"/>
                </a:solidFill>
                <a:latin typeface="Calibri"/>
              </a:rPr>
              <a:t>JWT auth, role management, campus email validation</a:t>
            </a:r>
            <a:endParaRPr lang="en-IN" sz="950" b="0" strike="noStrike" spc="-1">
              <a:latin typeface="Arial"/>
            </a:endParaRPr>
          </a:p>
        </p:txBody>
      </p:sp>
      <p:sp>
        <p:nvSpPr>
          <p:cNvPr id="463" name="Text 48"/>
          <p:cNvSpPr/>
          <p:nvPr/>
        </p:nvSpPr>
        <p:spPr>
          <a:xfrm>
            <a:off x="4892040" y="4846320"/>
            <a:ext cx="3931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00" b="0" strike="noStrike" spc="-1">
                <a:solidFill>
                  <a:srgbClr val="8A90A8"/>
                </a:solidFill>
                <a:latin typeface="Calibri"/>
              </a:rPr>
              <a:t>Thank You  |  Mentor: Suramya Biswas  |  Team: InbarasanKumar, Bhuvanesh Khanna, Ariba Kausar, Harchitha Narayanan, Varun K, Maleshkumar V, Noureen</a:t>
            </a:r>
            <a:endParaRPr lang="en-IN" sz="7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1062</Words>
  <Application>Microsoft Office PowerPoint</Application>
  <PresentationFormat>On-screen Show (16:9)</PresentationFormat>
  <Paragraphs>232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CampusTrack — Intelligent Lost &amp; Found Locator</dc:title>
  <dc:subject>PptxGenJS Presentation</dc:subject>
  <dc:creator>PptxGenJS</dc:creator>
  <dc:description/>
  <cp:lastModifiedBy>noureensyed2005@outlook.com</cp:lastModifiedBy>
  <cp:revision>8</cp:revision>
  <dcterms:created xsi:type="dcterms:W3CDTF">2026-03-20T14:57:14Z</dcterms:created>
  <dcterms:modified xsi:type="dcterms:W3CDTF">2026-03-20T15:45:47Z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